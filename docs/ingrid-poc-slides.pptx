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14"/>
    <p:sldId id="263" r:id="rId9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 varScale="1">
        <p:scale>
          <a:sx n="102" d="100"/>
          <a:sy n="102" d="100"/>
        </p:scale>
        <p:origin x="1496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4/21/26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906C32A-5BCC-DCE8-66C0-324CFB50078D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49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30D8A67-5F50-153B-1F41-105369155DD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RESTRICTED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7616952" y="0"/>
            <a:ext cx="4572000" cy="3200400"/>
          </a:xfrm>
          <a:prstGeom prst="rect">
            <a:avLst/>
          </a:prstGeom>
          <a:solidFill>
            <a:srgbClr val="140E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8988552" y="0"/>
            <a:ext cx="3200400" cy="2286000"/>
          </a:xfrm>
          <a:prstGeom prst="rect">
            <a:avLst/>
          </a:prstGeom>
          <a:solidFill>
            <a:srgbClr val="1A10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05840"/>
            <a:ext cx="7315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600" b="1" i="0">
                <a:solidFill>
                  <a:srgbClr val="FFFFFF"/>
                </a:solidFill>
                <a:latin typeface="Calibri"/>
              </a:rPr>
              <a:t>INGRID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2560320"/>
            <a:ext cx="384048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269748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E8E8F0"/>
                </a:solidFill>
                <a:latin typeface="Calibri"/>
              </a:rPr>
              <a:t>Intelligent Document Grid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383280"/>
            <a:ext cx="7498079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8888AA"/>
                </a:solidFill>
                <a:latin typeface="Calibri"/>
              </a:rPr>
              <a:t>Transform any corpus of PDFs into a structured, queryable intelligence grid — every cell a cited, verified answer produced by a multi-step ISD agent loop.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4434840"/>
            <a:ext cx="1828800" cy="32918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471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GPT-4.1 Vision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441448" y="4434840"/>
            <a:ext cx="1828800" cy="329184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2441448" y="4471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6C63FF"/>
                </a:solidFill>
                <a:latin typeface="Calibri"/>
              </a:rPr>
              <a:t>ISD Agent Loop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79976" y="4434840"/>
            <a:ext cx="1828800" cy="329184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79976" y="4471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LanceDB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318504" y="4434840"/>
            <a:ext cx="1828800" cy="329184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318504" y="4471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00D4AA"/>
                </a:solidFill>
                <a:latin typeface="Calibri"/>
              </a:rPr>
              <a:t>SSE Streaming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257032" y="4434840"/>
            <a:ext cx="1828800" cy="329184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57032" y="4471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648"/>
                </a:solidFill>
                <a:latin typeface="Calibri"/>
              </a:rPr>
              <a:t>React + Zustand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195560" y="4434840"/>
            <a:ext cx="1828800" cy="329184"/>
          </a:xfrm>
          <a:prstGeom prst="rect">
            <a:avLst/>
          </a:prstGeom>
          <a:solidFill>
            <a:srgbClr val="1E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10195560" y="447141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C648"/>
                </a:solidFill>
                <a:latin typeface="Calibri"/>
              </a:rPr>
              <a:t>Three.js 3D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982712" y="1280160"/>
            <a:ext cx="3657600" cy="3474720"/>
          </a:xfrm>
          <a:prstGeom prst="rect">
            <a:avLst/>
          </a:prstGeom>
          <a:solidFill>
            <a:srgbClr val="1010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7982712" y="1280160"/>
            <a:ext cx="3657600" cy="347472"/>
          </a:xfrm>
          <a:prstGeom prst="rect">
            <a:avLst/>
          </a:prstGeom>
          <a:solidFill>
            <a:srgbClr val="1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28432" y="13075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AA"/>
                </a:solidFill>
                <a:latin typeface="Calibri"/>
              </a:rPr>
              <a:t>Document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17152" y="1307592"/>
            <a:ext cx="11887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AA"/>
                </a:solidFill>
                <a:latin typeface="Calibri"/>
              </a:rPr>
              <a:t>Rev. Growth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405872" y="1307592"/>
            <a:ext cx="128016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888AA"/>
                </a:solidFill>
                <a:latin typeface="Calibri"/>
              </a:rPr>
              <a:t>Auditor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982712" y="1627632"/>
            <a:ext cx="3657600" cy="9144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028432" y="1746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3DD68C"/>
                </a:solidFill>
                <a:latin typeface="Calibri"/>
              </a:rPr>
              <a:t>NVIDIA 10-K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217152" y="174650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alibri"/>
              </a:rPr>
              <a:t>+122%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405872" y="17465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PwC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982712" y="2130552"/>
            <a:ext cx="3657600" cy="9144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028432" y="22494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alibri"/>
              </a:rPr>
              <a:t>AMD 10-K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217152" y="224942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00D4AA"/>
                </a:solidFill>
                <a:latin typeface="Calibri"/>
              </a:rPr>
              <a:t>+4%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405872" y="22494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FFFF"/>
                </a:solidFill>
                <a:latin typeface="Calibri"/>
              </a:rPr>
              <a:t>EY</a:t>
            </a:r>
          </a:p>
        </p:txBody>
      </p:sp>
      <p:sp>
        <p:nvSpPr>
          <p:cNvPr id="35" name="Rectangle 34"/>
          <p:cNvSpPr/>
          <p:nvPr/>
        </p:nvSpPr>
        <p:spPr>
          <a:xfrm>
            <a:off x="7982712" y="2633472"/>
            <a:ext cx="3657600" cy="9144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8028432" y="27523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FFC648"/>
                </a:solidFill>
                <a:latin typeface="Calibri"/>
              </a:rPr>
              <a:t>Netflix 10-K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217152" y="275234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Verify…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405872" y="27523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Pending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7982712" y="3136392"/>
            <a:ext cx="3657600" cy="9144"/>
          </a:xfrm>
          <a:prstGeom prst="rect">
            <a:avLst/>
          </a:prstGeom>
          <a:solidFill>
            <a:srgbClr val="2020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8028432" y="3255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Ferrari 10-K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9217152" y="3255264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Queued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405872" y="32552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Queued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502920" y="6400800"/>
            <a:ext cx="3657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PROOF OF CONCEPT  ·  2026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177272" y="6400800"/>
            <a:ext cx="1828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 i="0">
                <a:solidFill>
                  <a:srgbClr val="8888AA"/>
                </a:solidFill>
                <a:latin typeface="Calibri"/>
              </a:rPr>
              <a:t>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6B6B"/>
                </a:solidFill>
                <a:latin typeface="Calibri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Analysts are drowning in PDFs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20040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828800"/>
            <a:ext cx="5440680" cy="16002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828800"/>
            <a:ext cx="54864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2011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100s of documents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45059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10-Ks, filings, transcripts, fee schedules — impossible to read manually at scale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1828800"/>
            <a:ext cx="5440680" cy="16002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63640" y="1828800"/>
            <a:ext cx="54864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92240" y="201168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Inconsistent answers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245059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Copy-paste errors, missed rows, outdated numbers in Excel trackers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749040"/>
            <a:ext cx="5440680" cy="16002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749040"/>
            <a:ext cx="54864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31520" y="3931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No audit trail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43708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No one knows which page a number came from or whether it was fact-checked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63640" y="3749040"/>
            <a:ext cx="5440680" cy="16002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63640" y="3749040"/>
            <a:ext cx="54864" cy="16002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92240" y="3931920"/>
            <a:ext cx="5029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Slow turnaround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4370832"/>
            <a:ext cx="50292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Hours per document × hundreds of documents = days of analyst time wasted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355080"/>
            <a:ext cx="12188952" cy="502920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02920" y="6400800"/>
            <a:ext cx="11274552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0">
                <a:solidFill>
                  <a:srgbClr val="6C63FF"/>
                </a:solidFill>
                <a:latin typeface="Calibri"/>
              </a:rPr>
              <a:t>INGRID solves this — a cited, verified answer for every document × question pair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Documents × Questions = Answers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200400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737360"/>
            <a:ext cx="3657600" cy="21031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37360"/>
            <a:ext cx="365760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7451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6C63FF"/>
                </a:solidFill>
                <a:latin typeface="Calibri"/>
              </a:rPr>
              <a:t>ROWS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76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Documents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7004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Upload any PDF. Cached by SHA256.
Re-upload triggers only a diff.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89120" y="1737360"/>
            <a:ext cx="3657600" cy="21031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389120" y="1737360"/>
            <a:ext cx="365760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187451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00D4AA"/>
                </a:solidFill>
                <a:latin typeface="Calibri"/>
              </a:rPr>
              <a:t>COLUMNS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2176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67004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Any analyst prompt. Edit a column
and stale cells rerun automatically.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75320" y="1737360"/>
            <a:ext cx="3657600" cy="21031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75320" y="1737360"/>
            <a:ext cx="3657600" cy="64008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458200" y="1874519"/>
            <a:ext cx="32918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648"/>
                </a:solidFill>
                <a:latin typeface="Calibri"/>
              </a:rPr>
              <a:t>CELLS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458200" y="2176272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Cited Answers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58200" y="2670048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Every claim verified by an AI agent.
Full reasoning trace on click.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4041648"/>
            <a:ext cx="11183112" cy="347472"/>
          </a:xfrm>
          <a:prstGeom prst="rect">
            <a:avLst/>
          </a:prstGeom>
          <a:solidFill>
            <a:srgbClr val="1818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594360" y="4105656"/>
            <a:ext cx="20574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A"/>
                </a:solidFill>
                <a:latin typeface="Calibri"/>
              </a:rPr>
              <a:t>Document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88920" y="410565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A"/>
                </a:solidFill>
                <a:latin typeface="Calibri"/>
              </a:rPr>
              <a:t>Revenue Growth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09160" y="4105656"/>
            <a:ext cx="24231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A"/>
                </a:solidFill>
                <a:latin typeface="Calibri"/>
              </a:rPr>
              <a:t>Key Risk Factor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4105656"/>
            <a:ext cx="16002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A"/>
                </a:solidFill>
                <a:latin typeface="Calibri"/>
              </a:rPr>
              <a:t>Auditor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006840" y="4105656"/>
            <a:ext cx="178308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8888AA"/>
                </a:solidFill>
                <a:latin typeface="Calibri"/>
              </a:rPr>
              <a:t>Guidance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4389120"/>
            <a:ext cx="11183112" cy="402336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4360" y="448056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8F0"/>
                </a:solidFill>
                <a:latin typeface="Calibri"/>
              </a:rPr>
              <a:t>NVIDIA 10-K 2024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788920" y="44805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+122%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09160" y="448056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AI supply chain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69480" y="448056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PwC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006840" y="448056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Strong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4800600"/>
            <a:ext cx="11183112" cy="402336"/>
          </a:xfrm>
          <a:prstGeom prst="rect">
            <a:avLst/>
          </a:prstGeom>
          <a:solidFill>
            <a:srgbClr val="10101C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594360" y="489204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8F0"/>
                </a:solidFill>
                <a:latin typeface="Calibri"/>
              </a:rPr>
              <a:t>AMD 10-K 2024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88920" y="4892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+4%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489204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Competition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269480" y="489204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EY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9006840" y="489204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00D4AA"/>
                </a:solidFill>
                <a:latin typeface="Calibri"/>
              </a:rPr>
              <a:t>Cautious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212080"/>
            <a:ext cx="11183112" cy="402336"/>
          </a:xfrm>
          <a:prstGeom prst="rect">
            <a:avLst/>
          </a:prstGeom>
          <a:solidFill>
            <a:srgbClr val="121222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594360" y="5303520"/>
            <a:ext cx="2057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E8E8F0"/>
                </a:solidFill>
                <a:latin typeface="Calibri"/>
              </a:rPr>
              <a:t>Netflix 10-K 2024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2788920" y="53035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648"/>
                </a:solidFill>
                <a:latin typeface="Calibri"/>
              </a:rPr>
              <a:t>Verifying…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709160" y="5303520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FFC648"/>
                </a:solidFill>
                <a:latin typeface="Calibri"/>
              </a:rPr>
              <a:t>Drafting…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269480" y="5303520"/>
            <a:ext cx="1600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A"/>
                </a:solidFill>
                <a:latin typeface="Calibri"/>
              </a:rPr>
              <a:t>–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006840" y="5303520"/>
            <a:ext cx="1783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8888AA"/>
                </a:solidFill>
                <a:latin typeface="Calibri"/>
              </a:rPr>
              <a:t>Pending</a:t>
            </a:r>
          </a:p>
        </p:txBody>
      </p:sp>
      <p:sp>
        <p:nvSpPr>
          <p:cNvPr id="46" name="Rectangle 45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50292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  <a:latin typeface="Calibri"/>
              </a:rPr>
              <a:t>Each cell runs an independent ISD agent loop — decompose → gather → draft → verify → revise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6C63FF"/>
                </a:solidFill>
                <a:latin typeface="Calibri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What was built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200400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577840" cy="14173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" cy="14173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04088" y="18288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Vision Ingest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4088" y="222199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GPT-4.1 renders every page to PNG → markdown. Two-pass: extract then validate table structure and numbers vs fitz embedded text.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55080" y="1691640"/>
            <a:ext cx="5577840" cy="14173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355080" y="1691640"/>
            <a:ext cx="54864" cy="14173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556248" y="182880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Per-Doc Wiki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6248" y="222199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Section-level LLM extracts metrics, summaries, questions_answered. Builds key_metrics_table for fast structured lookup.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246120"/>
            <a:ext cx="5577840" cy="14173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246120"/>
            <a:ext cx="54864" cy="141732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04088" y="33832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Three-Tier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04088" y="377647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Naive (cosine top-k), ISD (decompose + attention rerank), Wiki (metric/claim first + fallback). Swappable at runtime via ⌘K.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355080" y="3246120"/>
            <a:ext cx="5577840" cy="14173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355080" y="3246120"/>
            <a:ext cx="54864" cy="141732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556248" y="338328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ISD Agent Loop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56248" y="377647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Per cell: Decompose → Gather (full-page context) → Draft (wiki facts + evidence) → Verify (per-claim, smart snippets) → 3-tier confidence.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4800600"/>
            <a:ext cx="5577840" cy="14173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Rectangle 23"/>
          <p:cNvSpPr/>
          <p:nvPr/>
        </p:nvSpPr>
        <p:spPr>
          <a:xfrm>
            <a:off x="502920" y="4800600"/>
            <a:ext cx="54864" cy="141732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04088" y="49377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Streaming React UI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533095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Matrix grid, AskBar (NL → columns), ⌘K palette, Focus Pane + PDF viewer, 3D Three.js pipeline viz, drag-drop upload, synthesis dock.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55080" y="4800600"/>
            <a:ext cx="5577840" cy="141732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6355080" y="4800600"/>
            <a:ext cx="54864" cy="14173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556248" y="4937760"/>
            <a:ext cx="51663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Calibri"/>
              </a:rPr>
              <a:t>Smart Citations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556248" y="5330952"/>
            <a:ext cx="51663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Header + matching rows extracted from table chunks. Evidence stays on the right row. Confidence: high / medium / low.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50292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  <a:latin typeface="Calibri"/>
              </a:rPr>
              <a:t>Python 3.13 · FastAPI · SQLite WAL · LanceDB · React 18 · Vite 8 · Zustand · Tailwind v4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D4AA"/>
                </a:solidFill>
                <a:latin typeface="Calibri"/>
              </a:rPr>
              <a:t>THREE-TIER RETRIEVAL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534924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 dirty="0">
                <a:solidFill>
                  <a:srgbClr val="FFFFFF"/>
                </a:solidFill>
                <a:latin typeface="Calibri"/>
              </a:rPr>
              <a:t>Swappable at runtime — same interface, different strategy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719072"/>
            <a:ext cx="3657600" cy="45720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719072"/>
            <a:ext cx="3657600" cy="6400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3520440" y="1856231"/>
            <a:ext cx="457200" cy="457200"/>
          </a:xfrm>
          <a:prstGeom prst="rect">
            <a:avLst/>
          </a:prstGeom>
          <a:solidFill>
            <a:srgbClr val="202035"/>
          </a:solidFill>
          <a:ln w="9525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20440" y="18928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8888AA"/>
                </a:solidFill>
                <a:latin typeface="Calibri"/>
              </a:rPr>
              <a:t>T1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NAIVE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286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888AA"/>
                </a:solidFill>
                <a:latin typeface="Calibri"/>
              </a:rPr>
              <a:t>Vector cosine top-k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" y="2724912"/>
            <a:ext cx="3383280" cy="1371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85800" y="28346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Embed query → dense vector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" y="336499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ANN search in LanceDB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" y="389534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Return top-k chunks by cosine score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42569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Fast. No LLM calls. Baseline quality.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98264" y="1719072"/>
            <a:ext cx="3657600" cy="45720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4398264" y="1719072"/>
            <a:ext cx="365760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7415784" y="1856231"/>
            <a:ext cx="457200" cy="457200"/>
          </a:xfrm>
          <a:prstGeom prst="rect">
            <a:avLst/>
          </a:prstGeom>
          <a:solidFill>
            <a:srgbClr val="202035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7415784" y="18928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6C63FF"/>
                </a:solidFill>
                <a:latin typeface="Calibri"/>
              </a:rPr>
              <a:t>T2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81144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ISD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81144" y="2286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6C63FF"/>
                </a:solidFill>
                <a:latin typeface="Calibri"/>
              </a:rPr>
              <a:t>Decompose + attention rerank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535424" y="2724912"/>
            <a:ext cx="3383280" cy="1371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581144" y="28346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LLM: decompose query → sub-queries + target sections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81144" y="336499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Vector search per sub-query, 0.5× boost in-target chunks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81144" y="389534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Collect top-30 candidates, deduplicate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81144" y="442569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LLM: attention-score each chunk (0.0–1.0)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956048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Return top-k sorted by attention score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293608" y="1719072"/>
            <a:ext cx="3657600" cy="45720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ectangle 30"/>
          <p:cNvSpPr/>
          <p:nvPr/>
        </p:nvSpPr>
        <p:spPr>
          <a:xfrm>
            <a:off x="8293608" y="1719072"/>
            <a:ext cx="3657600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11311128" y="1856231"/>
            <a:ext cx="457200" cy="457200"/>
          </a:xfrm>
          <a:prstGeom prst="rect">
            <a:avLst/>
          </a:prstGeom>
          <a:solidFill>
            <a:srgbClr val="202035"/>
          </a:solidFill>
          <a:ln w="9525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11311128" y="1892807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00D4AA"/>
                </a:solidFill>
                <a:latin typeface="Calibri"/>
              </a:rPr>
              <a:t>T3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476488" y="1874519"/>
            <a:ext cx="27432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WIKI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476488" y="2286000"/>
            <a:ext cx="32918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00D4AA"/>
                </a:solidFill>
                <a:latin typeface="Calibri"/>
              </a:rPr>
              <a:t>Structured knowledge first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430768" y="2724912"/>
            <a:ext cx="3383280" cy="13716"/>
          </a:xfrm>
          <a:prstGeom prst="rect">
            <a:avLst/>
          </a:prstGeom>
          <a:solidFill>
            <a:srgbClr val="22223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8476488" y="2834640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Scan pre-built key_metrics_table and claims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476488" y="3364992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Token-overlap score vs metric label / claim text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76488" y="3895344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Section drill-in via questions_answered index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76488" y="4425696"/>
            <a:ext cx="329184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→  Naive vector fallback for anything not found</a:t>
            </a:r>
          </a:p>
        </p:txBody>
      </p:sp>
      <p:sp>
        <p:nvSpPr>
          <p:cNvPr id="41" name="Rectangle 40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50292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  <a:latin typeface="Calibri"/>
              </a:rPr>
              <a:t>Default: ISD retriever — highest accuracy.  Switch via ⌘K or PATCH /grids/{id}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DA8FF"/>
                </a:solidFill>
                <a:latin typeface="Calibri"/>
              </a:rPr>
              <a:t>ISD AGENT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FFFFFF"/>
                </a:solidFill>
                <a:latin typeface="Calibri"/>
              </a:rPr>
              <a:t>One async job per document × column cell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200400" cy="50292"/>
          </a:xfrm>
          <a:prstGeom prst="rect">
            <a:avLst/>
          </a:prstGeom>
          <a:solidFill>
            <a:srgbClr val="4DA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404871" y="2683764"/>
            <a:ext cx="283464" cy="27432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459735" y="25328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  <a:latin typeface="Calibri"/>
              </a:rPr>
              <a:t>▶</a:t>
            </a:r>
          </a:p>
        </p:txBody>
      </p:sp>
      <p:sp>
        <p:nvSpPr>
          <p:cNvPr id="9" name="Rectangle 8"/>
          <p:cNvSpPr/>
          <p:nvPr/>
        </p:nvSpPr>
        <p:spPr>
          <a:xfrm>
            <a:off x="320040" y="1691640"/>
            <a:ext cx="2212848" cy="470916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20040" y="1691640"/>
            <a:ext cx="2212848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57200" y="181051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C63FF"/>
                </a:solidFill>
                <a:latin typeface="Calibri"/>
              </a:rPr>
              <a:t>DECOMPOSE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23317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Breaks prompt into sub-questions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30175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Targets sections from wiki index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7033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Uses doc meta for grounding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73167" y="2683764"/>
            <a:ext cx="283464" cy="27432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828031" y="25328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  <a:latin typeface="Calibri"/>
              </a:rPr>
              <a:t>▶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688336" y="1691640"/>
            <a:ext cx="2212848" cy="470916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2688336" y="1691640"/>
            <a:ext cx="2212848" cy="64008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2825496" y="181051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D4AA"/>
                </a:solidFill>
                <a:latin typeface="Calibri"/>
              </a:rPr>
              <a:t>GATHER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25496" y="23317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Retriever per sub-question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825496" y="30175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Full-page markdown context injected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25496" y="37033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Evidence chunks pooled + deduped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41463" y="2683764"/>
            <a:ext cx="283464" cy="27432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7196327" y="25328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  <a:latin typeface="Calibri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56632" y="1691640"/>
            <a:ext cx="2212848" cy="470916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Rectangle 25"/>
          <p:cNvSpPr/>
          <p:nvPr/>
        </p:nvSpPr>
        <p:spPr>
          <a:xfrm>
            <a:off x="5056632" y="1691640"/>
            <a:ext cx="2212848" cy="64008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5193792" y="181051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C648"/>
                </a:solidFill>
                <a:latin typeface="Calibri"/>
              </a:rPr>
              <a:t>DRAFT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193792" y="23317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Wiki facts + evidence + page context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193792" y="30175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Structured answer (text/number/table)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193792" y="37033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Cites every claim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09759" y="2683764"/>
            <a:ext cx="283464" cy="27432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9564623" y="2532888"/>
            <a:ext cx="18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8888AA"/>
                </a:solidFill>
                <a:latin typeface="Calibri"/>
              </a:rPr>
              <a:t>▶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424928" y="1691640"/>
            <a:ext cx="2212848" cy="470916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Rectangle 33"/>
          <p:cNvSpPr/>
          <p:nvPr/>
        </p:nvSpPr>
        <p:spPr>
          <a:xfrm>
            <a:off x="7424928" y="1691640"/>
            <a:ext cx="2212848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562088" y="181051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VERIFY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562088" y="23317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Per-claim fact-check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562088" y="30175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Smart snippet: header + matching rows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562088" y="37033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Returns: supported / contradicted / missing</a:t>
            </a:r>
          </a:p>
        </p:txBody>
      </p:sp>
      <p:sp>
        <p:nvSpPr>
          <p:cNvPr id="39" name="Rectangle 38"/>
          <p:cNvSpPr/>
          <p:nvPr/>
        </p:nvSpPr>
        <p:spPr>
          <a:xfrm>
            <a:off x="9793224" y="1691640"/>
            <a:ext cx="2212848" cy="470916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Rectangle 39"/>
          <p:cNvSpPr/>
          <p:nvPr/>
        </p:nvSpPr>
        <p:spPr>
          <a:xfrm>
            <a:off x="9793224" y="1691640"/>
            <a:ext cx="2212848" cy="64008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930384" y="1810512"/>
            <a:ext cx="19385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D68C"/>
                </a:solidFill>
                <a:latin typeface="Calibri"/>
              </a:rPr>
              <a:t>CONFIDENCE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930384" y="23317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High  = 100% claims supported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930384" y="30175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Medium = ≥ 60% supported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930384" y="3703320"/>
            <a:ext cx="1938528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• Low   = &lt; 60% — flagged for review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486400" y="5961888"/>
            <a:ext cx="438912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931920" y="5998464"/>
            <a:ext cx="82296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FF6B6B"/>
                </a:solidFill>
                <a:latin typeface="Calibri"/>
              </a:rPr>
              <a:t>↩  If contradicted → loop back to Decompose (max 1 revision)</a:t>
            </a:r>
          </a:p>
        </p:txBody>
      </p:sp>
      <p:sp>
        <p:nvSpPr>
          <p:cNvPr id="47" name="Rectangle 46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" name="TextBox 47"/>
          <p:cNvSpPr txBox="1"/>
          <p:nvPr/>
        </p:nvSpPr>
        <p:spPr>
          <a:xfrm>
            <a:off x="50292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  <a:latin typeface="Calibri"/>
              </a:rPr>
              <a:t>Every cell stores: answer · citations · confidence · full reasoning trace (ULID)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64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Calibri"/>
              </a:rPr>
              <a:t>System diagram — how a PDF becomes a cited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200400" cy="50292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20040" y="1572768"/>
            <a:ext cx="2606040" cy="4846320"/>
          </a:xfrm>
          <a:prstGeom prst="rect">
            <a:avLst/>
          </a:prstGeom>
          <a:solidFill>
            <a:srgbClr val="141428"/>
          </a:solidFill>
          <a:ln w="635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11480" y="1609344"/>
            <a:ext cx="2423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3FF"/>
                </a:solidFill>
                <a:latin typeface="Calibri"/>
              </a:rPr>
              <a:t>FRONTEND</a:t>
            </a:r>
          </a:p>
        </p:txBody>
      </p:sp>
      <p:sp>
        <p:nvSpPr>
          <p:cNvPr id="9" name="Rectangle 8"/>
          <p:cNvSpPr/>
          <p:nvPr/>
        </p:nvSpPr>
        <p:spPr>
          <a:xfrm>
            <a:off x="3154680" y="1572768"/>
            <a:ext cx="3246120" cy="4846320"/>
          </a:xfrm>
          <a:prstGeom prst="rect">
            <a:avLst/>
          </a:prstGeom>
          <a:solidFill>
            <a:srgbClr val="141828"/>
          </a:solidFill>
          <a:ln w="6350">
            <a:solidFill>
              <a:srgbClr val="4D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1609344"/>
            <a:ext cx="3063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DA8FF"/>
                </a:solidFill>
                <a:latin typeface="Calibri"/>
              </a:rPr>
              <a:t>BACKEND  ·  FastAPI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629400" y="1572768"/>
            <a:ext cx="3017520" cy="4846320"/>
          </a:xfrm>
          <a:prstGeom prst="rect">
            <a:avLst/>
          </a:prstGeom>
          <a:solidFill>
            <a:srgbClr val="142028"/>
          </a:solidFill>
          <a:ln w="635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720840" y="1609344"/>
            <a:ext cx="28346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4AA"/>
                </a:solidFill>
                <a:latin typeface="Calibri"/>
              </a:rPr>
              <a:t>AZURE OPENAI  ·  Core42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875520" y="1572768"/>
            <a:ext cx="2103120" cy="4846320"/>
          </a:xfrm>
          <a:prstGeom prst="rect">
            <a:avLst/>
          </a:prstGeom>
          <a:solidFill>
            <a:srgbClr val="1A1428"/>
          </a:solidFill>
          <a:ln w="635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966960" y="1609344"/>
            <a:ext cx="19202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FFC648"/>
                </a:solidFill>
                <a:latin typeface="Calibri"/>
              </a:rPr>
              <a:t>STORAGE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38912" y="192024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530352" y="196596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Matrix Grid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0352" y="217627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rows × cols × cells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" y="246888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30352" y="251460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Focus Pane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272491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answer + citations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8912" y="301752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530352" y="306324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PDF Viewer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0352" y="327355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PDF.js + bbox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38912" y="356616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530352" y="361188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AskBar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30352" y="382219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NL → column suggestions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38912" y="411480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30352" y="416052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⌘K Palette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30352" y="437083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add col / docs / export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38912" y="466344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30352" y="470916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3D Pipeline Viz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30352" y="491947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Three.js ISD animation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8912" y="521208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30352" y="525780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Ingest Progress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30352" y="546811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SSE per page + retry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38912" y="5760720"/>
            <a:ext cx="2359152" cy="475488"/>
          </a:xfrm>
          <a:prstGeom prst="rect">
            <a:avLst/>
          </a:prstGeom>
          <a:solidFill>
            <a:srgbClr val="1C1C38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TextBox 36"/>
          <p:cNvSpPr txBox="1"/>
          <p:nvPr/>
        </p:nvSpPr>
        <p:spPr>
          <a:xfrm>
            <a:off x="530352" y="5806440"/>
            <a:ext cx="222199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Synthesis Dock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30352" y="6016752"/>
            <a:ext cx="222199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cross-row narrative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273552" y="192024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4D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" name="TextBox 39"/>
          <p:cNvSpPr txBox="1"/>
          <p:nvPr/>
        </p:nvSpPr>
        <p:spPr>
          <a:xfrm>
            <a:off x="3364992" y="196596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REST API Routes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364992" y="217627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endpoints + schemas</a:t>
            </a:r>
          </a:p>
        </p:txBody>
      </p:sp>
      <p:sp>
        <p:nvSpPr>
          <p:cNvPr id="42" name="Rectangle 41"/>
          <p:cNvSpPr/>
          <p:nvPr/>
        </p:nvSpPr>
        <p:spPr>
          <a:xfrm>
            <a:off x="3273552" y="246888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4DA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3364992" y="251460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SSE Publisher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364992" y="272491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cell events + ingest progress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273552" y="301752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" name="TextBox 45"/>
          <p:cNvSpPr txBox="1"/>
          <p:nvPr/>
        </p:nvSpPr>
        <p:spPr>
          <a:xfrm>
            <a:off x="3364992" y="306324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Ingest Service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364992" y="327355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parse → wiki → index</a:t>
            </a:r>
          </a:p>
        </p:txBody>
      </p:sp>
      <p:sp>
        <p:nvSpPr>
          <p:cNvPr id="48" name="Rectangle 47"/>
          <p:cNvSpPr/>
          <p:nvPr/>
        </p:nvSpPr>
        <p:spPr>
          <a:xfrm>
            <a:off x="3273552" y="356616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3364992" y="361188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Cell Job Runner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3364992" y="382219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async ISD loop per cell</a:t>
            </a:r>
          </a:p>
        </p:txBody>
      </p:sp>
      <p:sp>
        <p:nvSpPr>
          <p:cNvPr id="51" name="Rectangle 50"/>
          <p:cNvSpPr/>
          <p:nvPr/>
        </p:nvSpPr>
        <p:spPr>
          <a:xfrm>
            <a:off x="3273552" y="411480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TextBox 51"/>
          <p:cNvSpPr txBox="1"/>
          <p:nvPr/>
        </p:nvSpPr>
        <p:spPr>
          <a:xfrm>
            <a:off x="3364992" y="416052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ISD Agent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3364992" y="437083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decompose→draft→verify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273552" y="466344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3364992" y="470916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Wiki Builder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64992" y="491947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per-section LLM extraction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273552" y="521208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TextBox 57"/>
          <p:cNvSpPr txBox="1"/>
          <p:nvPr/>
        </p:nvSpPr>
        <p:spPr>
          <a:xfrm>
            <a:off x="3364992" y="525780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Retriever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3364992" y="546811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naive / ISD / wiki (pluggable)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3273552" y="5760720"/>
            <a:ext cx="2999232" cy="475488"/>
          </a:xfrm>
          <a:prstGeom prst="rect">
            <a:avLst/>
          </a:prstGeom>
          <a:solidFill>
            <a:srgbClr val="181C38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TextBox 60"/>
          <p:cNvSpPr txBox="1"/>
          <p:nvPr/>
        </p:nvSpPr>
        <p:spPr>
          <a:xfrm>
            <a:off x="3364992" y="5806440"/>
            <a:ext cx="2862072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Synthesis + Suggest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3364992" y="6016752"/>
            <a:ext cx="28620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cross-row &amp; column suggest</a:t>
            </a:r>
          </a:p>
        </p:txBody>
      </p:sp>
      <p:sp>
        <p:nvSpPr>
          <p:cNvPr id="63" name="Rectangle 62"/>
          <p:cNvSpPr/>
          <p:nvPr/>
        </p:nvSpPr>
        <p:spPr>
          <a:xfrm>
            <a:off x="6748272" y="1920240"/>
            <a:ext cx="2788920" cy="640080"/>
          </a:xfrm>
          <a:prstGeom prst="rect">
            <a:avLst/>
          </a:prstGeom>
          <a:solidFill>
            <a:srgbClr val="14222C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6839712" y="19842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gpt-4.1  ·  Vision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6839712" y="224942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PDF pages → markdown</a:t>
            </a:r>
          </a:p>
        </p:txBody>
      </p:sp>
      <p:sp>
        <p:nvSpPr>
          <p:cNvPr id="66" name="Rectangle 65"/>
          <p:cNvSpPr/>
          <p:nvPr/>
        </p:nvSpPr>
        <p:spPr>
          <a:xfrm>
            <a:off x="6748272" y="2670048"/>
            <a:ext cx="2788920" cy="640080"/>
          </a:xfrm>
          <a:prstGeom prst="rect">
            <a:avLst/>
          </a:prstGeom>
          <a:solidFill>
            <a:srgbClr val="14222C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TextBox 66"/>
          <p:cNvSpPr txBox="1"/>
          <p:nvPr/>
        </p:nvSpPr>
        <p:spPr>
          <a:xfrm>
            <a:off x="6839712" y="27340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gpt-4.1  ·  Chat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6839712" y="299923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draft, verify, decompose</a:t>
            </a:r>
          </a:p>
        </p:txBody>
      </p:sp>
      <p:sp>
        <p:nvSpPr>
          <p:cNvPr id="69" name="Rectangle 68"/>
          <p:cNvSpPr/>
          <p:nvPr/>
        </p:nvSpPr>
        <p:spPr>
          <a:xfrm>
            <a:off x="6748272" y="3419856"/>
            <a:ext cx="2788920" cy="640080"/>
          </a:xfrm>
          <a:prstGeom prst="rect">
            <a:avLst/>
          </a:prstGeom>
          <a:solidFill>
            <a:srgbClr val="14222C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TextBox 69"/>
          <p:cNvSpPr txBox="1"/>
          <p:nvPr/>
        </p:nvSpPr>
        <p:spPr>
          <a:xfrm>
            <a:off x="6839712" y="348386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gpt-4.1  ·  Structured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6839712" y="374904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JSON schema extraction</a:t>
            </a:r>
          </a:p>
        </p:txBody>
      </p:sp>
      <p:sp>
        <p:nvSpPr>
          <p:cNvPr id="72" name="Rectangle 71"/>
          <p:cNvSpPr/>
          <p:nvPr/>
        </p:nvSpPr>
        <p:spPr>
          <a:xfrm>
            <a:off x="6748272" y="4169664"/>
            <a:ext cx="2788920" cy="640080"/>
          </a:xfrm>
          <a:prstGeom prst="rect">
            <a:avLst/>
          </a:prstGeom>
          <a:solidFill>
            <a:srgbClr val="14222C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TextBox 72"/>
          <p:cNvSpPr txBox="1"/>
          <p:nvPr/>
        </p:nvSpPr>
        <p:spPr>
          <a:xfrm>
            <a:off x="6839712" y="4233672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Attention Rerank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839712" y="449884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ISD chunk scoring (0–1)</a:t>
            </a:r>
          </a:p>
        </p:txBody>
      </p:sp>
      <p:sp>
        <p:nvSpPr>
          <p:cNvPr id="75" name="Rectangle 74"/>
          <p:cNvSpPr/>
          <p:nvPr/>
        </p:nvSpPr>
        <p:spPr>
          <a:xfrm>
            <a:off x="6748272" y="4919472"/>
            <a:ext cx="2788920" cy="640080"/>
          </a:xfrm>
          <a:prstGeom prst="rect">
            <a:avLst/>
          </a:prstGeom>
          <a:solidFill>
            <a:srgbClr val="14222C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TextBox 75"/>
          <p:cNvSpPr txBox="1"/>
          <p:nvPr/>
        </p:nvSpPr>
        <p:spPr>
          <a:xfrm>
            <a:off x="6839712" y="4983480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text-embedding-3-large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6839712" y="5248656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chunk + query embeddings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748272" y="5669280"/>
            <a:ext cx="2788920" cy="640080"/>
          </a:xfrm>
          <a:prstGeom prst="rect">
            <a:avLst/>
          </a:prstGeom>
          <a:solidFill>
            <a:srgbClr val="14222C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TextBox 78"/>
          <p:cNvSpPr txBox="1"/>
          <p:nvPr/>
        </p:nvSpPr>
        <p:spPr>
          <a:xfrm>
            <a:off x="6839712" y="5733288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FFFF"/>
                </a:solidFill>
                <a:latin typeface="Calibri"/>
              </a:rPr>
              <a:t>BGE-large  (fallback)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839712" y="5998464"/>
            <a:ext cx="26517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8888AA"/>
                </a:solidFill>
                <a:latin typeface="Calibri"/>
              </a:rPr>
              <a:t>local embedding model</a:t>
            </a:r>
          </a:p>
        </p:txBody>
      </p:sp>
      <p:sp>
        <p:nvSpPr>
          <p:cNvPr id="81" name="Rectangle 80"/>
          <p:cNvSpPr/>
          <p:nvPr/>
        </p:nvSpPr>
        <p:spPr>
          <a:xfrm>
            <a:off x="9994392" y="1920240"/>
            <a:ext cx="1865376" cy="640080"/>
          </a:xfrm>
          <a:prstGeom prst="rect">
            <a:avLst/>
          </a:prstGeom>
          <a:solidFill>
            <a:srgbClr val="1C182C"/>
          </a:solidFill>
          <a:ln w="762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TextBox 81"/>
          <p:cNvSpPr txBox="1"/>
          <p:nvPr/>
        </p:nvSpPr>
        <p:spPr>
          <a:xfrm>
            <a:off x="10067544" y="1984248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SQLite WAL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10067544" y="221284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  <a:latin typeface="Calibri"/>
              </a:rPr>
              <a:t>workspaces, grids
cols, rows, cells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994392" y="2670048"/>
            <a:ext cx="1865376" cy="640080"/>
          </a:xfrm>
          <a:prstGeom prst="rect">
            <a:avLst/>
          </a:prstGeom>
          <a:solidFill>
            <a:srgbClr val="1C182C"/>
          </a:solidFill>
          <a:ln w="762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TextBox 84"/>
          <p:cNvSpPr txBox="1"/>
          <p:nvPr/>
        </p:nvSpPr>
        <p:spPr>
          <a:xfrm>
            <a:off x="10067544" y="2734056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LanceDB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0067544" y="2962656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  <a:latin typeface="Calibri"/>
              </a:rPr>
              <a:t>per-doc vector
tables</a:t>
            </a:r>
          </a:p>
        </p:txBody>
      </p:sp>
      <p:sp>
        <p:nvSpPr>
          <p:cNvPr id="87" name="Rectangle 86"/>
          <p:cNvSpPr/>
          <p:nvPr/>
        </p:nvSpPr>
        <p:spPr>
          <a:xfrm>
            <a:off x="9994392" y="3419856"/>
            <a:ext cx="1865376" cy="640080"/>
          </a:xfrm>
          <a:prstGeom prst="rect">
            <a:avLst/>
          </a:prstGeom>
          <a:solidFill>
            <a:srgbClr val="1C182C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TextBox 87"/>
          <p:cNvSpPr txBox="1"/>
          <p:nvPr/>
        </p:nvSpPr>
        <p:spPr>
          <a:xfrm>
            <a:off x="10067544" y="3483864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PDFs + Parsed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0067544" y="3712464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  <a:latin typeface="Calibri"/>
              </a:rPr>
              <a:t>sha256 content-
addressable disk</a:t>
            </a:r>
          </a:p>
        </p:txBody>
      </p:sp>
      <p:sp>
        <p:nvSpPr>
          <p:cNvPr id="90" name="Rectangle 89"/>
          <p:cNvSpPr/>
          <p:nvPr/>
        </p:nvSpPr>
        <p:spPr>
          <a:xfrm>
            <a:off x="9994392" y="4169664"/>
            <a:ext cx="1865376" cy="640080"/>
          </a:xfrm>
          <a:prstGeom prst="rect">
            <a:avLst/>
          </a:prstGeom>
          <a:solidFill>
            <a:srgbClr val="1C182C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TextBox 90"/>
          <p:cNvSpPr txBox="1"/>
          <p:nvPr/>
        </p:nvSpPr>
        <p:spPr>
          <a:xfrm>
            <a:off x="10067544" y="4233672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Wikis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10067544" y="4462272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  <a:latin typeface="Calibri"/>
              </a:rPr>
              <a:t>sha__v1.json.gz
gzipped per doc</a:t>
            </a:r>
          </a:p>
        </p:txBody>
      </p:sp>
      <p:sp>
        <p:nvSpPr>
          <p:cNvPr id="93" name="Rectangle 92"/>
          <p:cNvSpPr/>
          <p:nvPr/>
        </p:nvSpPr>
        <p:spPr>
          <a:xfrm>
            <a:off x="9994392" y="4919472"/>
            <a:ext cx="1865376" cy="640080"/>
          </a:xfrm>
          <a:prstGeom prst="rect">
            <a:avLst/>
          </a:prstGeom>
          <a:solidFill>
            <a:srgbClr val="1C182C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TextBox 93"/>
          <p:cNvSpPr txBox="1"/>
          <p:nvPr/>
        </p:nvSpPr>
        <p:spPr>
          <a:xfrm>
            <a:off x="10067544" y="4983480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Page Images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067544" y="5212080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  <a:latin typeface="Calibri"/>
              </a:rPr>
              <a:t>200 DPI PNGs
for ParsedPreview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994392" y="5669280"/>
            <a:ext cx="1865376" cy="640080"/>
          </a:xfrm>
          <a:prstGeom prst="rect">
            <a:avLst/>
          </a:prstGeom>
          <a:solidFill>
            <a:srgbClr val="1C182C"/>
          </a:solidFill>
          <a:ln w="762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TextBox 96"/>
          <p:cNvSpPr txBox="1"/>
          <p:nvPr/>
        </p:nvSpPr>
        <p:spPr>
          <a:xfrm>
            <a:off x="10067544" y="5733288"/>
            <a:ext cx="1755648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FFFFF"/>
                </a:solidFill>
                <a:latin typeface="Calibri"/>
              </a:rPr>
              <a:t>Traces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10067544" y="5961888"/>
            <a:ext cx="1755648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8888AA"/>
                </a:solidFill>
                <a:latin typeface="Calibri"/>
              </a:rPr>
              <a:t>ULID per cell
full ISD trace</a:t>
            </a:r>
          </a:p>
        </p:txBody>
      </p:sp>
      <p:sp>
        <p:nvSpPr>
          <p:cNvPr id="99" name="Rectangle 98"/>
          <p:cNvSpPr/>
          <p:nvPr/>
        </p:nvSpPr>
        <p:spPr>
          <a:xfrm>
            <a:off x="2816352" y="2157984"/>
            <a:ext cx="301752" cy="228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TextBox 99"/>
          <p:cNvSpPr txBox="1"/>
          <p:nvPr/>
        </p:nvSpPr>
        <p:spPr>
          <a:xfrm>
            <a:off x="2825496" y="1975104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C63FF"/>
                </a:solidFill>
                <a:latin typeface="Calibri"/>
              </a:rPr>
              <a:t>REST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816352" y="2670048"/>
            <a:ext cx="301752" cy="2286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TextBox 101"/>
          <p:cNvSpPr txBox="1"/>
          <p:nvPr/>
        </p:nvSpPr>
        <p:spPr>
          <a:xfrm>
            <a:off x="2825496" y="2487168"/>
            <a:ext cx="292608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6C63FF"/>
                </a:solidFill>
                <a:latin typeface="Calibri"/>
              </a:rPr>
              <a:t>SSE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6419088" y="2743200"/>
            <a:ext cx="182880" cy="228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TextBox 103"/>
          <p:cNvSpPr txBox="1"/>
          <p:nvPr/>
        </p:nvSpPr>
        <p:spPr>
          <a:xfrm>
            <a:off x="6400800" y="2560320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AA"/>
                </a:solidFill>
                <a:latin typeface="Calibri"/>
              </a:rPr>
              <a:t>vision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6419088" y="3474720"/>
            <a:ext cx="182880" cy="228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TextBox 105"/>
          <p:cNvSpPr txBox="1"/>
          <p:nvPr/>
        </p:nvSpPr>
        <p:spPr>
          <a:xfrm>
            <a:off x="6400800" y="3291840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AA"/>
                </a:solidFill>
                <a:latin typeface="Calibri"/>
              </a:rPr>
              <a:t>chat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6419088" y="4206240"/>
            <a:ext cx="182880" cy="2286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TextBox 107"/>
          <p:cNvSpPr txBox="1"/>
          <p:nvPr/>
        </p:nvSpPr>
        <p:spPr>
          <a:xfrm>
            <a:off x="6400800" y="4023360"/>
            <a:ext cx="237744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00D4AA"/>
                </a:solidFill>
                <a:latin typeface="Calibri"/>
              </a:rPr>
              <a:t>embed</a:t>
            </a:r>
          </a:p>
        </p:txBody>
      </p:sp>
      <p:sp>
        <p:nvSpPr>
          <p:cNvPr id="109" name="Rectangle 108"/>
          <p:cNvSpPr/>
          <p:nvPr/>
        </p:nvSpPr>
        <p:spPr>
          <a:xfrm>
            <a:off x="9665208" y="3108960"/>
            <a:ext cx="210312" cy="2286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TextBox 109"/>
          <p:cNvSpPr txBox="1"/>
          <p:nvPr/>
        </p:nvSpPr>
        <p:spPr>
          <a:xfrm>
            <a:off x="9646920" y="292608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C648"/>
                </a:solidFill>
                <a:latin typeface="Calibri"/>
              </a:rPr>
              <a:t>read/write</a:t>
            </a:r>
          </a:p>
        </p:txBody>
      </p:sp>
      <p:sp>
        <p:nvSpPr>
          <p:cNvPr id="111" name="Rectangle 110"/>
          <p:cNvSpPr/>
          <p:nvPr/>
        </p:nvSpPr>
        <p:spPr>
          <a:xfrm>
            <a:off x="9665208" y="4114800"/>
            <a:ext cx="210312" cy="2286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TextBox 111"/>
          <p:cNvSpPr txBox="1"/>
          <p:nvPr/>
        </p:nvSpPr>
        <p:spPr>
          <a:xfrm>
            <a:off x="9646920" y="393192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C648"/>
                </a:solidFill>
                <a:latin typeface="Calibri"/>
              </a:rPr>
              <a:t>vectors</a:t>
            </a:r>
          </a:p>
        </p:txBody>
      </p:sp>
      <p:sp>
        <p:nvSpPr>
          <p:cNvPr id="113" name="Rectangle 112"/>
          <p:cNvSpPr/>
          <p:nvPr/>
        </p:nvSpPr>
        <p:spPr>
          <a:xfrm>
            <a:off x="9665208" y="4754880"/>
            <a:ext cx="210312" cy="2286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TextBox 113"/>
          <p:cNvSpPr txBox="1"/>
          <p:nvPr/>
        </p:nvSpPr>
        <p:spPr>
          <a:xfrm>
            <a:off x="9646920" y="4572000"/>
            <a:ext cx="25603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0">
                <a:solidFill>
                  <a:srgbClr val="FFC648"/>
                </a:solidFill>
                <a:latin typeface="Calibri"/>
              </a:rPr>
              <a:t>files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TextBox 115"/>
          <p:cNvSpPr txBox="1"/>
          <p:nvPr/>
        </p:nvSpPr>
        <p:spPr>
          <a:xfrm>
            <a:off x="50292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  <a:latin typeface="Calibri"/>
              </a:rPr>
              <a:t>All components run locally on a single machine — auth, cloud storage and job queues needed for production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320040"/>
            <a:ext cx="91440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648"/>
                </a:solidFill>
                <a:latin typeface="Calibri"/>
              </a:rPr>
              <a:t>ROADMAP  &amp;  COST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58368"/>
            <a:ext cx="1115568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 i="0">
                <a:solidFill>
                  <a:srgbClr val="FFFFFF"/>
                </a:solidFill>
                <a:latin typeface="Calibri"/>
              </a:rPr>
              <a:t>From PoC to Production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200400" cy="50292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502920" y="1691640"/>
            <a:ext cx="5349240" cy="25146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691640"/>
            <a:ext cx="54864" cy="25146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810512"/>
            <a:ext cx="49377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B6B"/>
                </a:solidFill>
                <a:latin typeface="Calibri"/>
              </a:rPr>
              <a:t>CURRENT LIMITATIONS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26771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✗  Local only — no auth, single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3347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✗  Wiki build ~$2–5 per 100-page 10-K (Core42 / GPT-4.1)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299923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✗  Page-level citations only (no sub-page bounding box)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3364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✗  Charts and images inside PDFs not extracted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73075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✗  No document versioning across uploads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4389120"/>
            <a:ext cx="5349240" cy="18288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4389120"/>
            <a:ext cx="54864" cy="182880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507992"/>
            <a:ext cx="5029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C648"/>
                </a:solidFill>
                <a:latin typeface="Calibri"/>
              </a:rPr>
              <a:t>COST BREAKDOWN  ·  per 100-page 10-K  ·  GPT-4.1 at Core42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95604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Pass 1 vision parse  (50 batches × 2 images)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846320" y="4956048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648"/>
                </a:solidFill>
                <a:latin typeface="Calibri"/>
              </a:rPr>
              <a:t>~$2.30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5248656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Pass 2 table validation  (25 batches)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846320" y="5248656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648"/>
                </a:solidFill>
                <a:latin typeface="Calibri"/>
              </a:rPr>
              <a:t>~$0.95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5800" y="5541264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Wiki builder  (30 sections × 6k tokens out)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846320" y="5541264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648"/>
                </a:solidFill>
                <a:latin typeface="Calibri"/>
              </a:rPr>
              <a:t>~$1.08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" y="5833872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8888AA"/>
                </a:solidFill>
                <a:latin typeface="Calibri"/>
              </a:rPr>
              <a:t>Cell queries  (per column added)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5833872"/>
            <a:ext cx="8229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 i="0">
                <a:solidFill>
                  <a:srgbClr val="FFC648"/>
                </a:solidFill>
                <a:latin typeface="Calibri"/>
              </a:rPr>
              <a:t>~$0.05–0.15 each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80760" y="1691640"/>
            <a:ext cx="5623560" cy="2514600"/>
          </a:xfrm>
          <a:prstGeom prst="rect">
            <a:avLst/>
          </a:prstGeom>
          <a:solidFill>
            <a:srgbClr val="12121E"/>
          </a:solidFill>
          <a:ln w="9525">
            <a:solidFill>
              <a:srgbClr val="2222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080760" y="1691640"/>
            <a:ext cx="54864" cy="251460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263640" y="18105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DD68C"/>
                </a:solidFill>
                <a:latin typeface="Calibri"/>
              </a:rPr>
              <a:t>TO SCALE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63640" y="226771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✓  Cloud storage + managed vector DB (Pinecone / Weaviate)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263640" y="263347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✓  Multi-tenant auth with workspace isolation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263640" y="299923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✓  Async job workers with priority queues (ARQ / Celery)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63640" y="336499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✓  Wiki cost shared via SHA256 content-addressable cache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63640" y="3730752"/>
            <a:ext cx="5212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>
                <a:solidFill>
                  <a:srgbClr val="8888AA"/>
                </a:solidFill>
                <a:latin typeface="Calibri"/>
              </a:rPr>
              <a:t>  ✓  Sub-page citations via bounding-box layout extraction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080760" y="4389120"/>
            <a:ext cx="5623560" cy="1828800"/>
          </a:xfrm>
          <a:prstGeom prst="rect">
            <a:avLst/>
          </a:prstGeom>
          <a:solidFill>
            <a:srgbClr val="101028"/>
          </a:solidFill>
          <a:ln w="9525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Rectangle 34"/>
          <p:cNvSpPr/>
          <p:nvPr/>
        </p:nvSpPr>
        <p:spPr>
          <a:xfrm>
            <a:off x="6080760" y="4389120"/>
            <a:ext cx="73152" cy="182880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" name="TextBox 35"/>
          <p:cNvSpPr txBox="1"/>
          <p:nvPr/>
        </p:nvSpPr>
        <p:spPr>
          <a:xfrm>
            <a:off x="6309360" y="44805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C63FF"/>
                </a:solidFill>
                <a:latin typeface="Calibri"/>
              </a:rPr>
              <a:t>THE BIGGER PLAY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09360" y="4846320"/>
            <a:ext cx="521208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FFFF"/>
                </a:solidFill>
                <a:latin typeface="Calibri"/>
              </a:rPr>
              <a:t>INGRID output is a structured database built from raw documents.</a:t>
            </a:r>
          </a:p>
          <a:p>
            <a:pPr algn="l"/>
            <a:r>
              <a:rPr sz="1400" b="1" i="0">
                <a:solidFill>
                  <a:srgbClr val="FFFFFF"/>
                </a:solidFill>
                <a:latin typeface="Calibri"/>
              </a:rPr>
              <a:t>That database becomes the backend for a conversational MCP interface.</a:t>
            </a:r>
          </a:p>
          <a:p>
            <a:pPr algn="l"/>
            <a:r>
              <a:rPr sz="1200" b="0" i="0">
                <a:solidFill>
                  <a:srgbClr val="8888AA"/>
                </a:solidFill>
                <a:latin typeface="Calibri"/>
              </a:rPr>
              <a:t>Analysts query their knowledge base conversationally — every answer traced to a source page.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02920" y="6510528"/>
            <a:ext cx="112745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0">
                <a:solidFill>
                  <a:srgbClr val="8888AA"/>
                </a:solidFill>
                <a:latin typeface="Calibri"/>
              </a:rPr>
              <a:t>INGRID  ·  Proof of Concept  ·  2026  ·  api.core42.ai  ·  GPT-4.1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909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18288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FC648"/>
                </a:solidFill>
                <a:latin typeface="Calibri"/>
              </a:rP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" y="475488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How a PDF becomes a cited, verified answer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" y="978408"/>
            <a:ext cx="5486400" cy="4572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9189720" y="1097280"/>
            <a:ext cx="2788920" cy="3063240"/>
          </a:xfrm>
          <a:prstGeom prst="rect">
            <a:avLst/>
          </a:prstGeom>
          <a:solidFill>
            <a:srgbClr val="0A1E20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9189720" y="1097280"/>
            <a:ext cx="2788920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299448" y="1170432"/>
            <a:ext cx="26060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AZURE OPENAI · Core42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299448" y="1463040"/>
            <a:ext cx="26060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gpt-4.1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326880" y="192024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① vision parse  (2-pass per page)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2267712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② wiki extraction  (per section)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326880" y="2615184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③ decompose prompt  (ISD loop)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0" y="2962656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④ draft answer  (evidence → text)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26880" y="3310128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⑤ verify claims  (per-claim check)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0" y="3657600"/>
            <a:ext cx="2560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⑥ attention rerank  (ISD retriever)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9189720" y="4297680"/>
            <a:ext cx="2788920" cy="960120"/>
          </a:xfrm>
          <a:prstGeom prst="rect">
            <a:avLst/>
          </a:prstGeom>
          <a:solidFill>
            <a:srgbClr val="181228"/>
          </a:solidFill>
          <a:ln w="1524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9189720" y="4297680"/>
            <a:ext cx="2788920" cy="50292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299448" y="436168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FFC648"/>
                </a:solidFill>
                <a:latin typeface="Calibri"/>
              </a:rPr>
              <a:t>STORAGE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99448" y="464515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SQLite WAL  ·  LanceDB vectors  ·  gzip wikis
pdfs  ·  page_images  ·  cell traces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189720" y="5394960"/>
            <a:ext cx="2788920" cy="960120"/>
          </a:xfrm>
          <a:prstGeom prst="rect">
            <a:avLst/>
          </a:prstGeom>
          <a:solidFill>
            <a:srgbClr val="181810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189720" y="5394960"/>
            <a:ext cx="2788920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299448" y="5458968"/>
            <a:ext cx="26060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C63FF"/>
                </a:solidFill>
                <a:latin typeface="Calibri"/>
              </a:rPr>
              <a:t>REACT FRONTEND  ·  SSE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299448" y="5742432"/>
            <a:ext cx="26060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8888AA"/>
                </a:solidFill>
                <a:latin typeface="Calibri"/>
              </a:rPr>
              <a:t>Matrix Grid  ·  Focus Pane  ·  PDF Viewer
3D Viz  ·  ⌘K Palette  ·  Synthesis Dock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1097280"/>
            <a:ext cx="8705088" cy="2011680"/>
          </a:xfrm>
          <a:prstGeom prst="rect">
            <a:avLst/>
          </a:prstGeom>
          <a:solidFill>
            <a:srgbClr val="0A1418"/>
          </a:solidFill>
          <a:ln w="762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8912" y="1152144"/>
            <a:ext cx="8522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00D4AA"/>
                </a:solidFill>
                <a:latin typeface="Calibri"/>
              </a:rPr>
              <a:t>① INGEST  ·  once per document  ·  result cached permanently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1517904"/>
            <a:ext cx="19202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57200" y="1517904"/>
            <a:ext cx="1920240" cy="50292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66928" y="1609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PDF Upload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66928" y="19385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any document type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66928" y="21945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SHA256 deduplicated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24505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cached permanently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377440" y="2135582"/>
            <a:ext cx="192024" cy="40233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532888" y="200025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35" name="Rectangle 34"/>
          <p:cNvSpPr/>
          <p:nvPr/>
        </p:nvSpPr>
        <p:spPr>
          <a:xfrm>
            <a:off x="2697480" y="1517904"/>
            <a:ext cx="19202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2697480" y="1517904"/>
            <a:ext cx="1920240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07208" y="1609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Vision Parser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07208" y="19385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render page → PNG (200 DPI)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807208" y="21945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pass 1: GPT-4.1 → markdown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807208" y="24505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pass 2: validate tables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4617720" y="2135582"/>
            <a:ext cx="192024" cy="40233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773168" y="200025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937760" y="1517904"/>
            <a:ext cx="19202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4937760" y="1517904"/>
            <a:ext cx="1920240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5047488" y="1609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Wiki Builder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047488" y="19385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per-section LLM call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47488" y="21945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metrics · summaries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47488" y="24505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key_metrics_table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58000" y="2135582"/>
            <a:ext cx="192024" cy="40233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013448" y="200025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51" name="Rectangle 50"/>
          <p:cNvSpPr/>
          <p:nvPr/>
        </p:nvSpPr>
        <p:spPr>
          <a:xfrm>
            <a:off x="7178040" y="1517904"/>
            <a:ext cx="19202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7178040" y="1517904"/>
            <a:ext cx="1920240" cy="50292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287768" y="1609344"/>
            <a:ext cx="17373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Vector Index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7287768" y="1938528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table-aware ~500-token chunks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7287768" y="2194560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text-embedding-3-large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287768" y="245059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stored in LanceDB</a:t>
            </a:r>
          </a:p>
        </p:txBody>
      </p:sp>
      <p:sp>
        <p:nvSpPr>
          <p:cNvPr id="57" name="Rectangle 56"/>
          <p:cNvSpPr/>
          <p:nvPr/>
        </p:nvSpPr>
        <p:spPr>
          <a:xfrm>
            <a:off x="347472" y="1152144"/>
            <a:ext cx="329184" cy="329184"/>
          </a:xfrm>
          <a:prstGeom prst="rect">
            <a:avLst/>
          </a:prstGeom>
          <a:solidFill>
            <a:srgbClr val="00D4AA"/>
          </a:solidFill>
          <a:ln w="1270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347472" y="1170432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F"/>
                </a:solidFill>
                <a:latin typeface="Calibri"/>
              </a:rPr>
              <a:t>1</a:t>
            </a:r>
          </a:p>
        </p:txBody>
      </p:sp>
      <p:sp>
        <p:nvSpPr>
          <p:cNvPr id="59" name="Rectangle 58"/>
          <p:cNvSpPr/>
          <p:nvPr/>
        </p:nvSpPr>
        <p:spPr>
          <a:xfrm>
            <a:off x="320040" y="3273552"/>
            <a:ext cx="8705088" cy="2743200"/>
          </a:xfrm>
          <a:prstGeom prst="rect">
            <a:avLst/>
          </a:prstGeom>
          <a:solidFill>
            <a:srgbClr val="0E0A1C"/>
          </a:solidFill>
          <a:ln w="762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438912" y="3328416"/>
            <a:ext cx="8522208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1" i="0">
                <a:solidFill>
                  <a:srgbClr val="6C63FF"/>
                </a:solidFill>
                <a:latin typeface="Calibri"/>
              </a:rPr>
              <a:t>② QUERY  ·  one async job per (document × column) cell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47472" y="3328416"/>
            <a:ext cx="329184" cy="329184"/>
          </a:xfrm>
          <a:prstGeom prst="rect">
            <a:avLst/>
          </a:prstGeom>
          <a:solidFill>
            <a:srgbClr val="6C63FF"/>
          </a:solidFill>
          <a:ln w="1270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347472" y="3346704"/>
            <a:ext cx="32918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09090F"/>
                </a:solidFill>
                <a:latin typeface="Calibri"/>
              </a:rPr>
              <a:t>2</a:t>
            </a:r>
          </a:p>
        </p:txBody>
      </p:sp>
      <p:sp>
        <p:nvSpPr>
          <p:cNvPr id="63" name="Rectangle 62"/>
          <p:cNvSpPr/>
          <p:nvPr/>
        </p:nvSpPr>
        <p:spPr>
          <a:xfrm>
            <a:off x="457200" y="3694176"/>
            <a:ext cx="14630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457200" y="3694176"/>
            <a:ext cx="1463040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566928" y="3785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Decompose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566928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break prompt into sub-Qs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66928" y="43708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identify target sections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66928" y="462686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uses doc meta + wiki index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920240" y="4311854"/>
            <a:ext cx="173736" cy="40233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2057400" y="417652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63FF"/>
                </a:solidFill>
                <a:latin typeface="Calibri"/>
              </a:rPr>
              <a:t>▶</a:t>
            </a:r>
          </a:p>
        </p:txBody>
      </p:sp>
      <p:sp>
        <p:nvSpPr>
          <p:cNvPr id="71" name="Rectangle 70"/>
          <p:cNvSpPr/>
          <p:nvPr/>
        </p:nvSpPr>
        <p:spPr>
          <a:xfrm>
            <a:off x="2221992" y="3694176"/>
            <a:ext cx="14630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Rectangle 71"/>
          <p:cNvSpPr/>
          <p:nvPr/>
        </p:nvSpPr>
        <p:spPr>
          <a:xfrm>
            <a:off x="2221992" y="3694176"/>
            <a:ext cx="1463040" cy="5029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31720" y="3785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Retrieve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2331720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Naive / ISD / Wiki mode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331720" y="43708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pluggable at runtime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2331720" y="462686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evidence chunks pooled</a:t>
            </a:r>
          </a:p>
        </p:txBody>
      </p:sp>
      <p:sp>
        <p:nvSpPr>
          <p:cNvPr id="77" name="Rectangle 76"/>
          <p:cNvSpPr/>
          <p:nvPr/>
        </p:nvSpPr>
        <p:spPr>
          <a:xfrm>
            <a:off x="3685032" y="4311854"/>
            <a:ext cx="173736" cy="40233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TextBox 77"/>
          <p:cNvSpPr txBox="1"/>
          <p:nvPr/>
        </p:nvSpPr>
        <p:spPr>
          <a:xfrm>
            <a:off x="3822192" y="417652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6C63FF"/>
                </a:solidFill>
                <a:latin typeface="Calibri"/>
              </a:rPr>
              <a:t>▶</a:t>
            </a:r>
          </a:p>
        </p:txBody>
      </p:sp>
      <p:sp>
        <p:nvSpPr>
          <p:cNvPr id="79" name="Rectangle 78"/>
          <p:cNvSpPr/>
          <p:nvPr/>
        </p:nvSpPr>
        <p:spPr>
          <a:xfrm>
            <a:off x="3986784" y="3694176"/>
            <a:ext cx="14630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FFC6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Rectangle 79"/>
          <p:cNvSpPr/>
          <p:nvPr/>
        </p:nvSpPr>
        <p:spPr>
          <a:xfrm>
            <a:off x="3986784" y="3694176"/>
            <a:ext cx="1463040" cy="50292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4096512" y="3785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Draft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4096512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wiki facts + full-page ctx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4096512" y="43708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evidence → structured answer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4096512" y="462686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cites every claim</a:t>
            </a:r>
          </a:p>
        </p:txBody>
      </p:sp>
      <p:sp>
        <p:nvSpPr>
          <p:cNvPr id="85" name="Rectangle 84"/>
          <p:cNvSpPr/>
          <p:nvPr/>
        </p:nvSpPr>
        <p:spPr>
          <a:xfrm>
            <a:off x="5449824" y="4311854"/>
            <a:ext cx="173736" cy="40233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TextBox 85"/>
          <p:cNvSpPr txBox="1"/>
          <p:nvPr/>
        </p:nvSpPr>
        <p:spPr>
          <a:xfrm>
            <a:off x="5586984" y="417652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C648"/>
                </a:solidFill>
                <a:latin typeface="Calibri"/>
              </a:rPr>
              <a:t>▶</a:t>
            </a:r>
          </a:p>
        </p:txBody>
      </p:sp>
      <p:sp>
        <p:nvSpPr>
          <p:cNvPr id="87" name="Rectangle 86"/>
          <p:cNvSpPr/>
          <p:nvPr/>
        </p:nvSpPr>
        <p:spPr>
          <a:xfrm>
            <a:off x="5751576" y="3694176"/>
            <a:ext cx="14630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Rectangle 87"/>
          <p:cNvSpPr/>
          <p:nvPr/>
        </p:nvSpPr>
        <p:spPr>
          <a:xfrm>
            <a:off x="5751576" y="3694176"/>
            <a:ext cx="1463040" cy="5029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5861304" y="3785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5861304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per-claim fact-check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5861304" y="43708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smart table snippet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5861304" y="462686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supported / contradicted</a:t>
            </a:r>
          </a:p>
        </p:txBody>
      </p:sp>
      <p:sp>
        <p:nvSpPr>
          <p:cNvPr id="93" name="Rectangle 92"/>
          <p:cNvSpPr/>
          <p:nvPr/>
        </p:nvSpPr>
        <p:spPr>
          <a:xfrm>
            <a:off x="7214616" y="4311854"/>
            <a:ext cx="173736" cy="40233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TextBox 93"/>
          <p:cNvSpPr txBox="1"/>
          <p:nvPr/>
        </p:nvSpPr>
        <p:spPr>
          <a:xfrm>
            <a:off x="7351776" y="4176522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FF6B6B"/>
                </a:solidFill>
                <a:latin typeface="Calibri"/>
              </a:rPr>
              <a:t>▶</a:t>
            </a:r>
          </a:p>
        </p:txBody>
      </p:sp>
      <p:sp>
        <p:nvSpPr>
          <p:cNvPr id="95" name="Rectangle 94"/>
          <p:cNvSpPr/>
          <p:nvPr/>
        </p:nvSpPr>
        <p:spPr>
          <a:xfrm>
            <a:off x="7516368" y="3694176"/>
            <a:ext cx="1463040" cy="1417320"/>
          </a:xfrm>
          <a:prstGeom prst="rect">
            <a:avLst/>
          </a:prstGeom>
          <a:solidFill>
            <a:srgbClr val="121424"/>
          </a:solidFill>
          <a:ln w="15240">
            <a:solidFill>
              <a:srgbClr val="3DD68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Rectangle 95"/>
          <p:cNvSpPr/>
          <p:nvPr/>
        </p:nvSpPr>
        <p:spPr>
          <a:xfrm>
            <a:off x="7516368" y="3694176"/>
            <a:ext cx="1463040" cy="50292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7626096" y="3785616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  <a:latin typeface="Calibri"/>
              </a:rPr>
              <a:t>Cell Answer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7626096" y="4114800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answer + citations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7626096" y="4370832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high / medium / low confidence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7626096" y="4626864"/>
            <a:ext cx="12801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8888AA"/>
                </a:solidFill>
                <a:latin typeface="Calibri"/>
              </a:rPr>
              <a:t>streamed via SSE</a:t>
            </a:r>
          </a:p>
        </p:txBody>
      </p:sp>
      <p:sp>
        <p:nvSpPr>
          <p:cNvPr id="101" name="Rectangle 100"/>
          <p:cNvSpPr/>
          <p:nvPr/>
        </p:nvSpPr>
        <p:spPr>
          <a:xfrm>
            <a:off x="2221992" y="5276088"/>
            <a:ext cx="438912" cy="274320"/>
          </a:xfrm>
          <a:prstGeom prst="rect">
            <a:avLst/>
          </a:prstGeom>
          <a:solidFill>
            <a:srgbClr val="18122C"/>
          </a:solidFill>
          <a:ln w="10160">
            <a:solidFill>
              <a:srgbClr val="8888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TextBox 101"/>
          <p:cNvSpPr txBox="1"/>
          <p:nvPr/>
        </p:nvSpPr>
        <p:spPr>
          <a:xfrm>
            <a:off x="2221992" y="52760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8888AA"/>
                </a:solidFill>
                <a:latin typeface="Calibri"/>
              </a:rPr>
              <a:t>Naive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2697480" y="5276088"/>
            <a:ext cx="438912" cy="274320"/>
          </a:xfrm>
          <a:prstGeom prst="rect">
            <a:avLst/>
          </a:prstGeom>
          <a:solidFill>
            <a:srgbClr val="18122C"/>
          </a:solidFill>
          <a:ln w="10160">
            <a:solidFill>
              <a:srgbClr val="6C63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extBox 103"/>
          <p:cNvSpPr txBox="1"/>
          <p:nvPr/>
        </p:nvSpPr>
        <p:spPr>
          <a:xfrm>
            <a:off x="2697480" y="52760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6C63FF"/>
                </a:solidFill>
                <a:latin typeface="Calibri"/>
              </a:rPr>
              <a:t>ISD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3172968" y="5276088"/>
            <a:ext cx="438912" cy="274320"/>
          </a:xfrm>
          <a:prstGeom prst="rect">
            <a:avLst/>
          </a:prstGeom>
          <a:solidFill>
            <a:srgbClr val="18122C"/>
          </a:solidFill>
          <a:ln w="10160">
            <a:solidFill>
              <a:srgbClr val="00D4A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TextBox 105"/>
          <p:cNvSpPr txBox="1"/>
          <p:nvPr/>
        </p:nvSpPr>
        <p:spPr>
          <a:xfrm>
            <a:off x="3172968" y="5276088"/>
            <a:ext cx="43891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00D4AA"/>
                </a:solidFill>
                <a:latin typeface="Calibri"/>
              </a:rPr>
              <a:t>Wiki</a:t>
            </a:r>
          </a:p>
        </p:txBody>
      </p:sp>
      <p:sp>
        <p:nvSpPr>
          <p:cNvPr id="107" name="Rectangle 106"/>
          <p:cNvSpPr/>
          <p:nvPr/>
        </p:nvSpPr>
        <p:spPr>
          <a:xfrm>
            <a:off x="8115300" y="2935224"/>
            <a:ext cx="45720" cy="169164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Rectangle 107"/>
          <p:cNvSpPr/>
          <p:nvPr/>
        </p:nvSpPr>
        <p:spPr>
          <a:xfrm>
            <a:off x="2953512" y="3081528"/>
            <a:ext cx="5230368" cy="45720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Rectangle 108"/>
          <p:cNvSpPr/>
          <p:nvPr/>
        </p:nvSpPr>
        <p:spPr>
          <a:xfrm>
            <a:off x="2930652" y="3104388"/>
            <a:ext cx="45720" cy="59436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TextBox 109"/>
          <p:cNvSpPr txBox="1"/>
          <p:nvPr/>
        </p:nvSpPr>
        <p:spPr>
          <a:xfrm>
            <a:off x="2843784" y="3072384"/>
            <a:ext cx="219456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AA"/>
                </a:solidFill>
                <a:latin typeface="Calibri"/>
              </a:rPr>
              <a:t>▼</a:t>
            </a:r>
          </a:p>
        </p:txBody>
      </p:sp>
      <p:sp>
        <p:nvSpPr>
          <p:cNvPr id="111" name="TextBox 110"/>
          <p:cNvSpPr txBox="1"/>
          <p:nvPr/>
        </p:nvSpPr>
        <p:spPr>
          <a:xfrm>
            <a:off x="8202168" y="2903220"/>
            <a:ext cx="5486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D4AA"/>
                </a:solidFill>
                <a:latin typeface="Calibri"/>
              </a:rPr>
              <a:t>chunks</a:t>
            </a:r>
          </a:p>
        </p:txBody>
      </p:sp>
      <p:sp>
        <p:nvSpPr>
          <p:cNvPr id="112" name="Rectangle 111"/>
          <p:cNvSpPr/>
          <p:nvPr/>
        </p:nvSpPr>
        <p:spPr>
          <a:xfrm>
            <a:off x="9098280" y="2135582"/>
            <a:ext cx="-36576" cy="40233"/>
          </a:xfrm>
          <a:prstGeom prst="rect">
            <a:avLst/>
          </a:prstGeom>
          <a:solidFill>
            <a:srgbClr val="00D4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TextBox 112"/>
          <p:cNvSpPr txBox="1"/>
          <p:nvPr/>
        </p:nvSpPr>
        <p:spPr>
          <a:xfrm>
            <a:off x="9025128" y="2000250"/>
            <a:ext cx="201168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00D4AA"/>
                </a:solidFill>
                <a:latin typeface="Calibri"/>
              </a:rPr>
              <a:t>▶</a:t>
            </a:r>
          </a:p>
        </p:txBody>
      </p:sp>
      <p:sp>
        <p:nvSpPr>
          <p:cNvPr id="114" name="TextBox 113"/>
          <p:cNvSpPr txBox="1"/>
          <p:nvPr/>
        </p:nvSpPr>
        <p:spPr>
          <a:xfrm>
            <a:off x="9134856" y="1936242"/>
            <a:ext cx="45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00D4AA"/>
                </a:solidFill>
                <a:latin typeface="Calibri"/>
              </a:rPr>
              <a:t>LLM calls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8979408" y="4379976"/>
            <a:ext cx="210312" cy="45720"/>
          </a:xfrm>
          <a:prstGeom prst="rect">
            <a:avLst/>
          </a:prstGeom>
          <a:solidFill>
            <a:srgbClr val="3DD6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TextBox 115"/>
          <p:cNvSpPr txBox="1"/>
          <p:nvPr/>
        </p:nvSpPr>
        <p:spPr>
          <a:xfrm>
            <a:off x="9025128" y="4201668"/>
            <a:ext cx="5943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1">
                <a:solidFill>
                  <a:srgbClr val="3DD68C"/>
                </a:solidFill>
                <a:latin typeface="Calibri"/>
              </a:rPr>
              <a:t>SSE →</a:t>
            </a:r>
          </a:p>
        </p:txBody>
      </p:sp>
      <p:sp>
        <p:nvSpPr>
          <p:cNvPr id="117" name="Rectangle 116"/>
          <p:cNvSpPr/>
          <p:nvPr/>
        </p:nvSpPr>
        <p:spPr>
          <a:xfrm>
            <a:off x="8595360" y="2935224"/>
            <a:ext cx="45720" cy="274320"/>
          </a:xfrm>
          <a:prstGeom prst="rect">
            <a:avLst/>
          </a:prstGeom>
          <a:solidFill>
            <a:srgbClr val="FFC6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TextBox 117"/>
          <p:cNvSpPr txBox="1"/>
          <p:nvPr/>
        </p:nvSpPr>
        <p:spPr>
          <a:xfrm>
            <a:off x="8654796" y="2980944"/>
            <a:ext cx="365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00" b="0" i="1">
                <a:solidFill>
                  <a:srgbClr val="FFC648"/>
                </a:solidFill>
                <a:latin typeface="Calibri"/>
              </a:rPr>
              <a:t>store</a:t>
            </a:r>
          </a:p>
        </p:txBody>
      </p:sp>
      <p:sp>
        <p:nvSpPr>
          <p:cNvPr id="119" name="Rectangle 118"/>
          <p:cNvSpPr/>
          <p:nvPr/>
        </p:nvSpPr>
        <p:spPr>
          <a:xfrm>
            <a:off x="0" y="6473952"/>
            <a:ext cx="12188952" cy="384048"/>
          </a:xfrm>
          <a:prstGeom prst="rect">
            <a:avLst/>
          </a:prstGeom>
          <a:solidFill>
            <a:srgbClr val="0D0D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TextBox 119"/>
          <p:cNvSpPr txBox="1"/>
          <p:nvPr/>
        </p:nvSpPr>
        <p:spPr>
          <a:xfrm>
            <a:off x="320040" y="6510528"/>
            <a:ext cx="117317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8888AA"/>
                </a:solidFill>
                <a:latin typeface="Calibri"/>
              </a:rPr>
              <a:t>All LLM calls routed to Azure OpenAI (api.core42.ai)  ·  ~$4–5 per 100-page document for full ingest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1244</Words>
  <Application>Microsoft Macintosh PowerPoint</Application>
  <PresentationFormat>Custom</PresentationFormat>
  <Paragraphs>236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Anup Roy</cp:lastModifiedBy>
  <cp:revision>2</cp:revision>
  <dcterms:created xsi:type="dcterms:W3CDTF">2013-01-27T09:14:16Z</dcterms:created>
  <dcterms:modified xsi:type="dcterms:W3CDTF">2026-04-21T18:55:18Z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a7407-5844-49ec-aa4f-9b4135bf0609_Enabled">
    <vt:lpwstr>true</vt:lpwstr>
  </property>
  <property fmtid="{D5CDD505-2E9C-101B-9397-08002B2CF9AE}" pid="3" name="MSIP_Label_09ea7407-5844-49ec-aa4f-9b4135bf0609_SetDate">
    <vt:lpwstr>2026-04-21T18:54:35Z</vt:lpwstr>
  </property>
  <property fmtid="{D5CDD505-2E9C-101B-9397-08002B2CF9AE}" pid="4" name="MSIP_Label_09ea7407-5844-49ec-aa4f-9b4135bf0609_Method">
    <vt:lpwstr>Standard</vt:lpwstr>
  </property>
  <property fmtid="{D5CDD505-2E9C-101B-9397-08002B2CF9AE}" pid="5" name="MSIP_Label_09ea7407-5844-49ec-aa4f-9b4135bf0609_Name">
    <vt:lpwstr>Restricted-Core42</vt:lpwstr>
  </property>
  <property fmtid="{D5CDD505-2E9C-101B-9397-08002B2CF9AE}" pid="6" name="MSIP_Label_09ea7407-5844-49ec-aa4f-9b4135bf0609_SiteId">
    <vt:lpwstr>62974d97-13b6-40c9-8576-f1ab2905b6cf</vt:lpwstr>
  </property>
  <property fmtid="{D5CDD505-2E9C-101B-9397-08002B2CF9AE}" pid="7" name="MSIP_Label_09ea7407-5844-49ec-aa4f-9b4135bf0609_ActionId">
    <vt:lpwstr>c5af1896-4252-4fd7-9fd2-8bb1e3282e44</vt:lpwstr>
  </property>
  <property fmtid="{D5CDD505-2E9C-101B-9397-08002B2CF9AE}" pid="8" name="MSIP_Label_09ea7407-5844-49ec-aa4f-9b4135bf0609_ContentBits">
    <vt:lpwstr>3</vt:lpwstr>
  </property>
  <property fmtid="{D5CDD505-2E9C-101B-9397-08002B2CF9AE}" pid="9" name="MSIP_Label_09ea7407-5844-49ec-aa4f-9b4135bf0609_Tag">
    <vt:lpwstr>50, 1, 2, 1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RESTRICTED 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 </vt:lpwstr>
  </property>
</Properties>
</file>