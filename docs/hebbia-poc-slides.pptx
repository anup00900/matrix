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</p:sldIdLst>
  <p:sldSz cx="12188825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4673"/>
  </p:normalViewPr>
  <p:slideViewPr>
    <p:cSldViewPr snapToGrid="0" snapToObjects="1">
      <p:cViewPr>
        <p:scale>
          <a:sx n="146" d="100"/>
          <a:sy n="146" d="100"/>
        </p:scale>
        <p:origin x="144" y="12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4/20/26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1711C32-7BB5-A402-F129-DDAB2E36F534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hdr"/>
              </p:ext>
            </p:extLst>
          </p:nvPr>
        </p:nvSpPr>
        <p:spPr>
          <a:xfrm>
            <a:off x="63500" y="63500"/>
            <a:ext cx="3492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 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4CA86EB-B9D8-AF4D-4119-BC3346934508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63500" y="6687820"/>
            <a:ext cx="523875" cy="10668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AE" sz="700">
                <a:solidFill>
                  <a:srgbClr val="FF0000">
                    <a:alpha val="50000"/>
                  </a:srgbClr>
                </a:solidFill>
                <a:latin typeface="Aptos" panose="020B0004020202020204" pitchFamily="34" charset="0"/>
              </a:rPr>
              <a:t>RESTRICTED </a:t>
            </a:r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 dirty="0">
                <a:solidFill>
                  <a:srgbClr val="3B82F6"/>
                </a:solidFill>
              </a:rPr>
              <a:t>HEBBIA MATRIX  ·  PROOF OF CONCEPT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8412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400" b="1">
                <a:solidFill>
                  <a:srgbClr val="F0F0F6"/>
                </a:solidFill>
              </a:rPr>
              <a:t>Turning documents into a
</a:t>
            </a:r>
            <a:r>
              <a:rPr sz="3400" b="1">
                <a:solidFill>
                  <a:srgbClr val="3B82F6"/>
                </a:solidFill>
              </a:rPr>
              <a:t>structured, queryable grid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02920" y="2029968"/>
            <a:ext cx="713232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0" i="0" dirty="0" err="1">
                <a:solidFill>
                  <a:srgbClr val="606078"/>
                </a:solidFill>
              </a:rPr>
              <a:t>Hebbia</a:t>
            </a:r>
            <a:r>
              <a:rPr sz="1250" b="0" i="0" dirty="0">
                <a:solidFill>
                  <a:srgbClr val="606078"/>
                </a:solidFill>
              </a:rPr>
              <a:t> Matrix lets analysts define questions as columns and run them across every document simultaneously — each cell is a cited, verified answer traced back to the exact source page.</a:t>
            </a:r>
          </a:p>
        </p:txBody>
      </p:sp>
      <p:sp>
        <p:nvSpPr>
          <p:cNvPr id="5" name="Rectangle 4"/>
          <p:cNvSpPr/>
          <p:nvPr/>
        </p:nvSpPr>
        <p:spPr>
          <a:xfrm>
            <a:off x="502920" y="2999232"/>
            <a:ext cx="2377440" cy="1389888"/>
          </a:xfrm>
          <a:prstGeom prst="rect">
            <a:avLst/>
          </a:prstGeom>
          <a:solidFill>
            <a:srgbClr val="0E0E18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667512" y="3090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ROWS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33467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6"/>
                </a:solidFill>
              </a:rPr>
              <a:t>Documents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67512" y="3675887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8"/>
                </a:solidFill>
              </a:rPr>
              <a:t>10-Ks, filings, transcripts — uploaded once, cached permanently</a:t>
            </a:r>
          </a:p>
        </p:txBody>
      </p:sp>
      <p:sp>
        <p:nvSpPr>
          <p:cNvPr id="9" name="Rectangle 8"/>
          <p:cNvSpPr/>
          <p:nvPr/>
        </p:nvSpPr>
        <p:spPr>
          <a:xfrm>
            <a:off x="3081528" y="2999232"/>
            <a:ext cx="2377440" cy="1389888"/>
          </a:xfrm>
          <a:prstGeom prst="rect">
            <a:avLst/>
          </a:prstGeom>
          <a:solidFill>
            <a:srgbClr val="0E0E18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3246120" y="3090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B82F6"/>
                </a:solidFill>
              </a:rPr>
              <a:t>COLUMNS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46120" y="33467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6"/>
                </a:solidFill>
              </a:rPr>
              <a:t>Questions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246120" y="3675887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8"/>
                </a:solidFill>
              </a:rPr>
              <a:t>Any analyst question. Edit a column and stale cells rerun automatically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660136" y="2999232"/>
            <a:ext cx="2377440" cy="1389888"/>
          </a:xfrm>
          <a:prstGeom prst="rect">
            <a:avLst/>
          </a:prstGeom>
          <a:solidFill>
            <a:srgbClr val="0E0E18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5824727" y="3090672"/>
            <a:ext cx="201168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</a:rPr>
              <a:t>CELLS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824727" y="3346704"/>
            <a:ext cx="201168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0F0F6"/>
                </a:solidFill>
              </a:rPr>
              <a:t>Cited Answers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824727" y="3675887"/>
            <a:ext cx="201168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606078"/>
                </a:solidFill>
              </a:rPr>
              <a:t>Every claim cites a page and passage. Full reasoning trace on click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732520" y="822960"/>
            <a:ext cx="3246120" cy="2926080"/>
          </a:xfrm>
          <a:prstGeom prst="rect">
            <a:avLst/>
          </a:prstGeom>
          <a:solidFill>
            <a:srgbClr val="12121E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Rectangle 17"/>
          <p:cNvSpPr/>
          <p:nvPr/>
        </p:nvSpPr>
        <p:spPr>
          <a:xfrm>
            <a:off x="8732520" y="822960"/>
            <a:ext cx="3246120" cy="310896"/>
          </a:xfrm>
          <a:prstGeom prst="rect">
            <a:avLst/>
          </a:prstGeom>
          <a:solidFill>
            <a:srgbClr val="0E0E18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8823960" y="8869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B82F6"/>
                </a:solidFill>
              </a:rPr>
              <a:t>Document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48088" y="8869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B82F6"/>
                </a:solidFill>
              </a:rPr>
              <a:t>Revenue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908792" y="886968"/>
            <a:ext cx="100584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3B82F6"/>
                </a:solidFill>
              </a:rPr>
              <a:t>Auditor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8732520" y="1133856"/>
            <a:ext cx="3246120" cy="859536"/>
          </a:xfrm>
          <a:prstGeom prst="rect">
            <a:avLst/>
          </a:prstGeom>
          <a:solidFill>
            <a:srgbClr val="08080E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8823960" y="14081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B8"/>
                </a:solidFill>
              </a:rPr>
              <a:t>Apple 10-K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848088" y="1408176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</a:rPr>
              <a:t>-2.8%  p.42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908792" y="1408176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22C55E"/>
                </a:solidFill>
              </a:rPr>
              <a:t>EY  p.91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8732520" y="1993391"/>
            <a:ext cx="3246120" cy="859536"/>
          </a:xfrm>
          <a:prstGeom prst="rect">
            <a:avLst/>
          </a:prstGeom>
          <a:solidFill>
            <a:srgbClr val="12121E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8823960" y="226771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B8"/>
                </a:solidFill>
              </a:rPr>
              <a:t>NVIDIA 10-K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848088" y="2267711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Generating…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0908792" y="2267711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78"/>
                </a:solidFill>
              </a:rPr>
              <a:t>Pending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8732520" y="2852928"/>
            <a:ext cx="3246120" cy="859536"/>
          </a:xfrm>
          <a:prstGeom prst="rect">
            <a:avLst/>
          </a:prstGeom>
          <a:solidFill>
            <a:srgbClr val="08080E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8823960" y="3127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B8"/>
                </a:solidFill>
              </a:rPr>
              <a:t>Netflix 10-K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848088" y="3127248"/>
            <a:ext cx="100584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606078"/>
                </a:solidFill>
              </a:rPr>
              <a:t>Pending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0908792" y="3127248"/>
            <a:ext cx="82296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606078"/>
                </a:solidFill>
              </a:rPr>
              <a:t>Pending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84048"/>
            <a:ext cx="82296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WHAT WAS BUILT  ·  WHERE IT GOES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13232"/>
            <a:ext cx="91440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>
                <a:solidFill>
                  <a:srgbClr val="F0F0F6"/>
                </a:solidFill>
              </a:rPr>
              <a:t>What was built  </a:t>
            </a:r>
            <a:r>
              <a:rPr sz="2800" b="1">
                <a:solidFill>
                  <a:srgbClr val="8B5CF6"/>
                </a:solidFill>
              </a:rPr>
              <a:t>and where it fits</a:t>
            </a:r>
          </a:p>
        </p:txBody>
      </p:sp>
      <p:sp>
        <p:nvSpPr>
          <p:cNvPr id="4" name="Rectangle 3"/>
          <p:cNvSpPr/>
          <p:nvPr/>
        </p:nvSpPr>
        <p:spPr>
          <a:xfrm>
            <a:off x="502920" y="1645920"/>
            <a:ext cx="11155680" cy="566928"/>
          </a:xfrm>
          <a:prstGeom prst="rect">
            <a:avLst/>
          </a:prstGeom>
          <a:solidFill>
            <a:srgbClr val="090914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1069848" y="17190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8BDF8"/>
                </a:solidFill>
              </a:rPr>
              <a:t>Vision Ingest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78408" y="19385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78"/>
                </a:solidFill>
              </a:rPr>
              <a:t>Batch 5 pages/call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24328" y="180136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A"/>
                </a:solidFill>
              </a:rPr>
              <a:t>→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00984" y="17190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8B5CF6"/>
                </a:solidFill>
              </a:rPr>
              <a:t>Wiki Builder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209544" y="19385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78"/>
                </a:solidFill>
              </a:rPr>
              <a:t>Per-section LLM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55464" y="180136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A"/>
                </a:solidFill>
              </a:rPr>
              <a:t>→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32120" y="17190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DD4BF"/>
                </a:solidFill>
              </a:rPr>
              <a:t>Vector Index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40679" y="19385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78"/>
                </a:solidFill>
              </a:rPr>
              <a:t>Chunks + embeddings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086599" y="180136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A"/>
                </a:solidFill>
              </a:rPr>
              <a:t>→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63256" y="17190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22C55E"/>
                </a:solidFill>
              </a:rPr>
              <a:t>ISD Agent Loop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671816" y="19385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78"/>
                </a:solidFill>
              </a:rPr>
              <a:t>Decompose→verify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317736" y="1801368"/>
            <a:ext cx="2286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28283A"/>
                </a:solidFill>
              </a:rPr>
              <a:t>→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994392" y="1719072"/>
            <a:ext cx="109728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850" b="1" i="0">
                <a:solidFill>
                  <a:srgbClr val="3B82F6"/>
                </a:solidFill>
              </a:rPr>
              <a:t>Streaming UI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902952" y="1938528"/>
            <a:ext cx="128016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750" b="0" i="0">
                <a:solidFill>
                  <a:srgbClr val="606078"/>
                </a:solidFill>
              </a:rPr>
              <a:t>React + SSE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02920" y="2395728"/>
            <a:ext cx="3456432" cy="2304288"/>
          </a:xfrm>
          <a:prstGeom prst="rect">
            <a:avLst/>
          </a:prstGeom>
          <a:solidFill>
            <a:srgbClr val="061210"/>
          </a:solidFill>
          <a:ln w="9525">
            <a:solidFill>
              <a:srgbClr val="103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67512" y="2487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22C55E"/>
                </a:solidFill>
              </a:rPr>
              <a:t>WHAT WAS BUILT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04088" y="278892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GPT-4.1 Vision ingest — PDF pages as images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118103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Per-document wiki with entities, metrics, claims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04088" y="3447287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Three swappable retriever modes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04088" y="377647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ISD loop: decompose, gather, draft, verify, revise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04088" y="410565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Streaming React UI with PDF viewer and citations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04088" y="443484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FinanceBench harness to benchmark retrieval quality</a:t>
            </a:r>
          </a:p>
        </p:txBody>
      </p:sp>
      <p:sp>
        <p:nvSpPr>
          <p:cNvPr id="27" name="Rectangle 26"/>
          <p:cNvSpPr/>
          <p:nvPr/>
        </p:nvSpPr>
        <p:spPr>
          <a:xfrm>
            <a:off x="4178808" y="2395728"/>
            <a:ext cx="3456432" cy="2304288"/>
          </a:xfrm>
          <a:prstGeom prst="rect">
            <a:avLst/>
          </a:prstGeom>
          <a:solidFill>
            <a:srgbClr val="140606"/>
          </a:solidFill>
          <a:ln w="9525">
            <a:solidFill>
              <a:srgbClr val="3A10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43400" y="2487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EF4444"/>
                </a:solidFill>
              </a:rPr>
              <a:t>LIMITATIONS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379976" y="278892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Local only — no auth, single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379976" y="3118103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Wiki build cost ~$2–5 per 10-K filing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379976" y="3447287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Page-level citations only, no sub-page highlights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4379976" y="377647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Charts and images inside PDFs not extracted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379976" y="410565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No document versioning across uploads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863840" y="2395728"/>
            <a:ext cx="3456432" cy="2304288"/>
          </a:xfrm>
          <a:prstGeom prst="rect">
            <a:avLst/>
          </a:prstGeom>
          <a:solidFill>
            <a:srgbClr val="141006"/>
          </a:solidFill>
          <a:ln w="9525">
            <a:solidFill>
              <a:srgbClr val="3A2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8028431" y="2487168"/>
            <a:ext cx="31089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F59E0B"/>
                </a:solidFill>
              </a:rPr>
              <a:t>TO SCALE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065008" y="2788920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Cloud storage + managed vector database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065008" y="3118103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Multi-tenant auth with workspace isolation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065008" y="3447287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Async job workers with priority queues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065008" y="3776472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Wiki cost shared via content-addressable cache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065008" y="4105656"/>
            <a:ext cx="3090672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0B8"/>
                </a:solidFill>
              </a:rPr>
              <a:t>Sub-page citation via layout extraction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02920" y="4919472"/>
            <a:ext cx="11155680" cy="1481328"/>
          </a:xfrm>
          <a:prstGeom prst="rect">
            <a:avLst/>
          </a:prstGeom>
          <a:solidFill>
            <a:srgbClr val="0C0818"/>
          </a:solidFill>
          <a:ln w="9525">
            <a:solidFill>
              <a:srgbClr val="2E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2" name="TextBox 41"/>
          <p:cNvSpPr txBox="1"/>
          <p:nvPr/>
        </p:nvSpPr>
        <p:spPr>
          <a:xfrm>
            <a:off x="713232" y="5029200"/>
            <a:ext cx="36576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8B5CF6"/>
                </a:solidFill>
              </a:rPr>
              <a:t>THE BIGGER PLAY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13232" y="5321808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B5FD"/>
                </a:solidFill>
              </a:rPr>
              <a:t>Matrix output builds a custom structured database from raw documents.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713232" y="5669280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B5FD"/>
                </a:solidFill>
              </a:rPr>
              <a:t>That database becomes the backend for an MCP chat interface.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713232" y="6016752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C4B5FD"/>
                </a:solidFill>
              </a:rPr>
              <a:t>Analysts query their own knowledge base conversationally — every answer traced to a source page.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8080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502920" y="329184"/>
            <a:ext cx="457200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2C55E"/>
                </a:solidFill>
              </a:rPr>
              <a:t>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621792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400" b="1">
                <a:solidFill>
                  <a:srgbClr val="F0F0F6"/>
                </a:solidFill>
              </a:rPr>
              <a:t>System flow  </a:t>
            </a:r>
            <a:r>
              <a:rPr sz="2400" b="0">
                <a:solidFill>
                  <a:srgbClr val="606078"/>
                </a:solidFill>
              </a:rPr>
              <a:t>— how a PDF becomes a cited answer</a:t>
            </a:r>
          </a:p>
        </p:txBody>
      </p:sp>
      <p:sp>
        <p:nvSpPr>
          <p:cNvPr id="4" name="Rectangle 3"/>
          <p:cNvSpPr/>
          <p:nvPr/>
        </p:nvSpPr>
        <p:spPr>
          <a:xfrm>
            <a:off x="384048" y="1371600"/>
            <a:ext cx="11430000" cy="1737360"/>
          </a:xfrm>
          <a:prstGeom prst="rect">
            <a:avLst/>
          </a:prstGeom>
          <a:solidFill>
            <a:srgbClr val="0A0A14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548640" y="1417320"/>
            <a:ext cx="54864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8283A"/>
                </a:solidFill>
              </a:rPr>
              <a:t>OFFLINE  ·  ONCE PER DOCUMENT  ·  CACHED</a:t>
            </a:r>
          </a:p>
        </p:txBody>
      </p:sp>
      <p:sp>
        <p:nvSpPr>
          <p:cNvPr id="6" name="Rectangle 5"/>
          <p:cNvSpPr/>
          <p:nvPr/>
        </p:nvSpPr>
        <p:spPr>
          <a:xfrm>
            <a:off x="475488" y="1572768"/>
            <a:ext cx="2395728" cy="1335024"/>
          </a:xfrm>
          <a:prstGeom prst="rect">
            <a:avLst/>
          </a:prstGeom>
          <a:solidFill>
            <a:srgbClr val="0E0E18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603504" y="16642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F0F0F6"/>
                </a:solidFill>
              </a:rPr>
              <a:t>PDF</a:t>
            </a:r>
          </a:p>
        </p:txBody>
      </p:sp>
      <p:sp>
        <p:nvSpPr>
          <p:cNvPr id="8" name="Rectangle 7"/>
          <p:cNvSpPr/>
          <p:nvPr/>
        </p:nvSpPr>
        <p:spPr>
          <a:xfrm>
            <a:off x="585216" y="1975104"/>
            <a:ext cx="2176272" cy="6000"/>
          </a:xfrm>
          <a:prstGeom prst="rect">
            <a:avLst/>
          </a:prstGeom>
          <a:solidFill>
            <a:srgbClr val="20203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cxnSp>
        <p:nvCxnSpPr>
          <p:cNvPr id="9" name="Connector 8"/>
          <p:cNvCxnSpPr/>
          <p:nvPr/>
        </p:nvCxnSpPr>
        <p:spPr>
          <a:xfrm>
            <a:off x="2871216" y="2240280"/>
            <a:ext cx="420624" cy="0"/>
          </a:xfrm>
          <a:prstGeom prst="line">
            <a:avLst/>
          </a:prstGeom>
          <a:ln w="15875">
            <a:solidFill>
              <a:srgbClr val="28283A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3291840" y="1572768"/>
            <a:ext cx="2395728" cy="1335024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3419856" y="16642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Vision Ingest</a:t>
            </a:r>
          </a:p>
        </p:txBody>
      </p:sp>
      <p:sp>
        <p:nvSpPr>
          <p:cNvPr id="12" name="Rectangle 11"/>
          <p:cNvSpPr/>
          <p:nvPr/>
        </p:nvSpPr>
        <p:spPr>
          <a:xfrm>
            <a:off x="3401568" y="1975104"/>
            <a:ext cx="2176272" cy="6000"/>
          </a:xfrm>
          <a:prstGeom prst="rect">
            <a:avLst/>
          </a:prstGeom>
          <a:solidFill>
            <a:srgbClr val="1A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419856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Render pages to PNG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19856" y="23225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Batch 5 images per call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19856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GPT-4.1 extracts markdown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687568" y="2240280"/>
            <a:ext cx="420624" cy="0"/>
          </a:xfrm>
          <a:prstGeom prst="line">
            <a:avLst/>
          </a:prstGeom>
          <a:ln w="15875">
            <a:solidFill>
              <a:srgbClr val="28283A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ectangle 16"/>
          <p:cNvSpPr/>
          <p:nvPr/>
        </p:nvSpPr>
        <p:spPr>
          <a:xfrm>
            <a:off x="6108192" y="1572768"/>
            <a:ext cx="2395728" cy="1335024"/>
          </a:xfrm>
          <a:prstGeom prst="rect">
            <a:avLst/>
          </a:prstGeom>
          <a:solidFill>
            <a:srgbClr val="0C0818"/>
          </a:solidFill>
          <a:ln w="9525">
            <a:solidFill>
              <a:srgbClr val="2E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6236207" y="16642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</a:rPr>
              <a:t>Wiki Builder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6217920" y="1975104"/>
            <a:ext cx="2176272" cy="6000"/>
          </a:xfrm>
          <a:prstGeom prst="rect">
            <a:avLst/>
          </a:prstGeom>
          <a:solidFill>
            <a:srgbClr val="2E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236207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One LLM call per section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236207" y="23225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Entities, claims, metrics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36207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Doc-level rollup</a:t>
            </a:r>
          </a:p>
        </p:txBody>
      </p:sp>
      <p:cxnSp>
        <p:nvCxnSpPr>
          <p:cNvPr id="23" name="Connector 22"/>
          <p:cNvCxnSpPr/>
          <p:nvPr/>
        </p:nvCxnSpPr>
        <p:spPr>
          <a:xfrm>
            <a:off x="8503920" y="2240280"/>
            <a:ext cx="420624" cy="0"/>
          </a:xfrm>
          <a:prstGeom prst="line">
            <a:avLst/>
          </a:prstGeom>
          <a:ln w="15875">
            <a:solidFill>
              <a:srgbClr val="28283A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4" name="Rectangle 23"/>
          <p:cNvSpPr/>
          <p:nvPr/>
        </p:nvSpPr>
        <p:spPr>
          <a:xfrm>
            <a:off x="8924544" y="1572768"/>
            <a:ext cx="2395728" cy="1335024"/>
          </a:xfrm>
          <a:prstGeom prst="rect">
            <a:avLst/>
          </a:prstGeom>
          <a:solidFill>
            <a:srgbClr val="051210"/>
          </a:solidFill>
          <a:ln w="9525">
            <a:solidFill>
              <a:srgbClr val="0F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5" name="TextBox 24"/>
          <p:cNvSpPr txBox="1"/>
          <p:nvPr/>
        </p:nvSpPr>
        <p:spPr>
          <a:xfrm>
            <a:off x="9052560" y="1664208"/>
            <a:ext cx="2139696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</a:rPr>
              <a:t>Vector Index</a:t>
            </a:r>
          </a:p>
        </p:txBody>
      </p:sp>
      <p:sp>
        <p:nvSpPr>
          <p:cNvPr id="26" name="Rectangle 25"/>
          <p:cNvSpPr/>
          <p:nvPr/>
        </p:nvSpPr>
        <p:spPr>
          <a:xfrm>
            <a:off x="9034272" y="1975104"/>
            <a:ext cx="2176272" cy="6000"/>
          </a:xfrm>
          <a:prstGeom prst="rect">
            <a:avLst/>
          </a:prstGeom>
          <a:solidFill>
            <a:srgbClr val="0F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TextBox 26"/>
          <p:cNvSpPr txBox="1"/>
          <p:nvPr/>
        </p:nvSpPr>
        <p:spPr>
          <a:xfrm>
            <a:off x="9052560" y="204825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500-token chunks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052560" y="232257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Embed via Azure / BGE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9052560" y="2596896"/>
            <a:ext cx="2139696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Store in LanceDB</a:t>
            </a:r>
          </a:p>
        </p:txBody>
      </p:sp>
      <p:sp>
        <p:nvSpPr>
          <p:cNvPr id="30" name="Rectangle 29"/>
          <p:cNvSpPr/>
          <p:nvPr/>
        </p:nvSpPr>
        <p:spPr>
          <a:xfrm>
            <a:off x="384048" y="3236976"/>
            <a:ext cx="11430000" cy="2029968"/>
          </a:xfrm>
          <a:prstGeom prst="rect">
            <a:avLst/>
          </a:prstGeom>
          <a:solidFill>
            <a:srgbClr val="0A0C10"/>
          </a:solidFill>
          <a:ln w="9525">
            <a:solidFill>
              <a:srgbClr val="20203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1" name="TextBox 30"/>
          <p:cNvSpPr txBox="1"/>
          <p:nvPr/>
        </p:nvSpPr>
        <p:spPr>
          <a:xfrm>
            <a:off x="548640" y="3282696"/>
            <a:ext cx="91440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28283A"/>
                </a:solidFill>
              </a:rPr>
              <a:t>RETRIEVER  ·  PLUGGABLE AT RUNTIME — SAME INTERFACE, SWAPPED VIA CONFIG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75488" y="3456432"/>
            <a:ext cx="3456432" cy="1719072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603504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38BDF8"/>
                </a:solidFill>
              </a:rPr>
              <a:t>Naive Retriever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85216" y="3858768"/>
            <a:ext cx="3236976" cy="6000"/>
          </a:xfrm>
          <a:prstGeom prst="rect">
            <a:avLst/>
          </a:prstGeom>
          <a:solidFill>
            <a:srgbClr val="1A345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5" name="TextBox 34"/>
          <p:cNvSpPr txBox="1"/>
          <p:nvPr/>
        </p:nvSpPr>
        <p:spPr>
          <a:xfrm>
            <a:off x="603504" y="393192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1.  Embed query → dense vector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603504" y="420624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2.  ANN search in LanceDB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603504" y="4480559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3.  Return top-k chunks by cosine score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133087" y="3456432"/>
            <a:ext cx="3456432" cy="1719072"/>
          </a:xfrm>
          <a:prstGeom prst="rect">
            <a:avLst/>
          </a:prstGeom>
          <a:solidFill>
            <a:srgbClr val="0C0818"/>
          </a:solidFill>
          <a:ln w="9525">
            <a:solidFill>
              <a:srgbClr val="2E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9" name="TextBox 38"/>
          <p:cNvSpPr txBox="1"/>
          <p:nvPr/>
        </p:nvSpPr>
        <p:spPr>
          <a:xfrm>
            <a:off x="4261103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8B5CF6"/>
                </a:solidFill>
              </a:rPr>
              <a:t>ISD Retriever</a:t>
            </a:r>
          </a:p>
        </p:txBody>
      </p:sp>
      <p:sp>
        <p:nvSpPr>
          <p:cNvPr id="40" name="Rectangle 39"/>
          <p:cNvSpPr/>
          <p:nvPr/>
        </p:nvSpPr>
        <p:spPr>
          <a:xfrm>
            <a:off x="4242816" y="3858768"/>
            <a:ext cx="3236976" cy="6000"/>
          </a:xfrm>
          <a:prstGeom prst="rect">
            <a:avLst/>
          </a:prstGeom>
          <a:solidFill>
            <a:srgbClr val="2E1A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1" name="TextBox 40"/>
          <p:cNvSpPr txBox="1"/>
          <p:nvPr/>
        </p:nvSpPr>
        <p:spPr>
          <a:xfrm>
            <a:off x="4261103" y="393192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1.  LLM: decompose query → sub-queries + target sections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4261103" y="420624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2.  Vector search per sub-query, boost target sections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4261103" y="4480559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3.  Collect top-30 candidate chunks, deduplicate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4261103" y="4754879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4.  LLM: attention-score each chunk (0.0 – 1.0)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61103" y="502920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5.  Return top-k by attention score</a:t>
            </a:r>
          </a:p>
        </p:txBody>
      </p:sp>
      <p:sp>
        <p:nvSpPr>
          <p:cNvPr id="46" name="Rectangle 45"/>
          <p:cNvSpPr/>
          <p:nvPr/>
        </p:nvSpPr>
        <p:spPr>
          <a:xfrm>
            <a:off x="7790688" y="3456432"/>
            <a:ext cx="3456432" cy="1719072"/>
          </a:xfrm>
          <a:prstGeom prst="rect">
            <a:avLst/>
          </a:prstGeom>
          <a:solidFill>
            <a:srgbClr val="051210"/>
          </a:solidFill>
          <a:ln w="9525">
            <a:solidFill>
              <a:srgbClr val="0F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7" name="TextBox 46"/>
          <p:cNvSpPr txBox="1"/>
          <p:nvPr/>
        </p:nvSpPr>
        <p:spPr>
          <a:xfrm>
            <a:off x="7918704" y="3547872"/>
            <a:ext cx="32004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50" b="1" i="0">
                <a:solidFill>
                  <a:srgbClr val="2DD4BF"/>
                </a:solidFill>
              </a:rPr>
              <a:t>Wiki Retriever</a:t>
            </a:r>
          </a:p>
        </p:txBody>
      </p:sp>
      <p:sp>
        <p:nvSpPr>
          <p:cNvPr id="48" name="Rectangle 47"/>
          <p:cNvSpPr/>
          <p:nvPr/>
        </p:nvSpPr>
        <p:spPr>
          <a:xfrm>
            <a:off x="7900415" y="3858768"/>
            <a:ext cx="3236976" cy="6000"/>
          </a:xfrm>
          <a:prstGeom prst="rect">
            <a:avLst/>
          </a:prstGeom>
          <a:solidFill>
            <a:srgbClr val="0F302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9" name="TextBox 48"/>
          <p:cNvSpPr txBox="1"/>
          <p:nvPr/>
        </p:nvSpPr>
        <p:spPr>
          <a:xfrm>
            <a:off x="7918704" y="393192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1.  Search pre-built wiki metrics and claims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7918704" y="4206240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2.  Match section via questions_answered index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918704" y="4480559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3.  Drill into that section's chunks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7918704" y="4754879"/>
            <a:ext cx="3200400" cy="24688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A0A0B8"/>
                </a:solidFill>
              </a:rPr>
              <a:t>4.  Vector fallback for anything not found above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84048" y="5376672"/>
            <a:ext cx="11430000" cy="1261872"/>
          </a:xfrm>
          <a:prstGeom prst="rect">
            <a:avLst/>
          </a:prstGeom>
          <a:solidFill>
            <a:srgbClr val="060E06"/>
          </a:solidFill>
          <a:ln w="9525">
            <a:solidFill>
              <a:srgbClr val="10382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4" name="TextBox 53"/>
          <p:cNvSpPr txBox="1"/>
          <p:nvPr/>
        </p:nvSpPr>
        <p:spPr>
          <a:xfrm>
            <a:off x="548640" y="5422392"/>
            <a:ext cx="8229600" cy="21945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1" i="0">
                <a:solidFill>
                  <a:srgbClr val="103820"/>
                </a:solidFill>
              </a:rPr>
              <a:t>ISD AGENT LOOP  ·  ONE JOB PER (DOCUMENT × COLUMN) PAIR</a:t>
            </a:r>
          </a:p>
        </p:txBody>
      </p:sp>
      <p:sp>
        <p:nvSpPr>
          <p:cNvPr id="55" name="Rectangle 54"/>
          <p:cNvSpPr/>
          <p:nvPr/>
        </p:nvSpPr>
        <p:spPr>
          <a:xfrm>
            <a:off x="475488" y="5614416"/>
            <a:ext cx="1956816" cy="932688"/>
          </a:xfrm>
          <a:prstGeom prst="rect">
            <a:avLst/>
          </a:prstGeom>
          <a:solidFill>
            <a:srgbClr val="0C0818"/>
          </a:solidFill>
          <a:ln w="9525">
            <a:solidFill>
              <a:srgbClr val="2E1A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6" name="TextBox 55"/>
          <p:cNvSpPr txBox="1"/>
          <p:nvPr/>
        </p:nvSpPr>
        <p:spPr>
          <a:xfrm>
            <a:off x="594360" y="56967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B5CF6"/>
                </a:solidFill>
              </a:rPr>
              <a:t>Decompose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594360" y="59618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B8"/>
                </a:solidFill>
              </a:rPr>
              <a:t>Breaks prompt into
sub-questions +
target sections</a:t>
            </a:r>
          </a:p>
        </p:txBody>
      </p:sp>
      <p:cxnSp>
        <p:nvCxnSpPr>
          <p:cNvPr id="58" name="Connector 57"/>
          <p:cNvCxnSpPr/>
          <p:nvPr/>
        </p:nvCxnSpPr>
        <p:spPr>
          <a:xfrm>
            <a:off x="2432304" y="6080759"/>
            <a:ext cx="219456" cy="0"/>
          </a:xfrm>
          <a:prstGeom prst="line">
            <a:avLst/>
          </a:prstGeom>
          <a:ln w="12700">
            <a:solidFill>
              <a:srgbClr val="103820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9" name="Rectangle 58"/>
          <p:cNvSpPr/>
          <p:nvPr/>
        </p:nvSpPr>
        <p:spPr>
          <a:xfrm>
            <a:off x="2651760" y="5614416"/>
            <a:ext cx="1956816" cy="932688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0" name="TextBox 59"/>
          <p:cNvSpPr txBox="1"/>
          <p:nvPr/>
        </p:nvSpPr>
        <p:spPr>
          <a:xfrm>
            <a:off x="2770632" y="56967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38BDF8"/>
                </a:solidFill>
              </a:rPr>
              <a:t>Gather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2770632" y="59618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B8"/>
                </a:solidFill>
              </a:rPr>
              <a:t>Calls retriever per
sub-question,
pools evidence</a:t>
            </a:r>
          </a:p>
        </p:txBody>
      </p:sp>
      <p:cxnSp>
        <p:nvCxnSpPr>
          <p:cNvPr id="62" name="Connector 61"/>
          <p:cNvCxnSpPr/>
          <p:nvPr/>
        </p:nvCxnSpPr>
        <p:spPr>
          <a:xfrm>
            <a:off x="4608576" y="6080759"/>
            <a:ext cx="219456" cy="0"/>
          </a:xfrm>
          <a:prstGeom prst="line">
            <a:avLst/>
          </a:prstGeom>
          <a:ln w="12700">
            <a:solidFill>
              <a:srgbClr val="103820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3" name="Rectangle 62"/>
          <p:cNvSpPr/>
          <p:nvPr/>
        </p:nvSpPr>
        <p:spPr>
          <a:xfrm>
            <a:off x="4828031" y="5614416"/>
            <a:ext cx="1956816" cy="932688"/>
          </a:xfrm>
          <a:prstGeom prst="rect">
            <a:avLst/>
          </a:prstGeom>
          <a:solidFill>
            <a:srgbClr val="0C1208"/>
          </a:solidFill>
          <a:ln w="9525">
            <a:solidFill>
              <a:srgbClr val="1E321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4" name="TextBox 63"/>
          <p:cNvSpPr txBox="1"/>
          <p:nvPr/>
        </p:nvSpPr>
        <p:spPr>
          <a:xfrm>
            <a:off x="4946903" y="56967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86EFAC"/>
                </a:solidFill>
              </a:rPr>
              <a:t>Draft</a:t>
            </a:r>
          </a:p>
        </p:txBody>
      </p:sp>
      <p:sp>
        <p:nvSpPr>
          <p:cNvPr id="65" name="TextBox 64"/>
          <p:cNvSpPr txBox="1"/>
          <p:nvPr/>
        </p:nvSpPr>
        <p:spPr>
          <a:xfrm>
            <a:off x="4946903" y="59618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B8"/>
                </a:solidFill>
              </a:rPr>
              <a:t>LLM writes answer
from evidence only,
cites every claim</a:t>
            </a:r>
          </a:p>
        </p:txBody>
      </p:sp>
      <p:cxnSp>
        <p:nvCxnSpPr>
          <p:cNvPr id="66" name="Connector 65"/>
          <p:cNvCxnSpPr/>
          <p:nvPr/>
        </p:nvCxnSpPr>
        <p:spPr>
          <a:xfrm>
            <a:off x="6784848" y="6080759"/>
            <a:ext cx="219456" cy="0"/>
          </a:xfrm>
          <a:prstGeom prst="line">
            <a:avLst/>
          </a:prstGeom>
          <a:ln w="12700">
            <a:solidFill>
              <a:srgbClr val="103820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7" name="Rectangle 66"/>
          <p:cNvSpPr/>
          <p:nvPr/>
        </p:nvSpPr>
        <p:spPr>
          <a:xfrm>
            <a:off x="7004304" y="5614416"/>
            <a:ext cx="1956816" cy="932688"/>
          </a:xfrm>
          <a:prstGeom prst="rect">
            <a:avLst/>
          </a:prstGeom>
          <a:solidFill>
            <a:srgbClr val="140A06"/>
          </a:solidFill>
          <a:ln w="9525">
            <a:solidFill>
              <a:srgbClr val="3A180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8" name="TextBox 67"/>
          <p:cNvSpPr txBox="1"/>
          <p:nvPr/>
        </p:nvSpPr>
        <p:spPr>
          <a:xfrm>
            <a:off x="7123176" y="56967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FB923C"/>
                </a:solidFill>
              </a:rPr>
              <a:t>Verify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7123176" y="59618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A0A0B8"/>
                </a:solidFill>
              </a:rPr>
              <a:t>Re-retrieves claims,
checks supported /
contradicted</a:t>
            </a:r>
          </a:p>
        </p:txBody>
      </p:sp>
      <p:cxnSp>
        <p:nvCxnSpPr>
          <p:cNvPr id="70" name="Connector 69"/>
          <p:cNvCxnSpPr/>
          <p:nvPr/>
        </p:nvCxnSpPr>
        <p:spPr>
          <a:xfrm>
            <a:off x="8961120" y="6080759"/>
            <a:ext cx="219456" cy="0"/>
          </a:xfrm>
          <a:prstGeom prst="line">
            <a:avLst/>
          </a:prstGeom>
          <a:ln w="12700">
            <a:solidFill>
              <a:srgbClr val="103820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Rectangle 70"/>
          <p:cNvSpPr/>
          <p:nvPr/>
        </p:nvSpPr>
        <p:spPr>
          <a:xfrm>
            <a:off x="9079992" y="5614416"/>
            <a:ext cx="1207008" cy="877790"/>
          </a:xfrm>
          <a:prstGeom prst="rect">
            <a:avLst/>
          </a:prstGeom>
          <a:solidFill>
            <a:srgbClr val="051210"/>
          </a:solidFill>
          <a:ln w="9525">
            <a:solidFill>
              <a:srgbClr val="0F302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2" name="TextBox 71"/>
          <p:cNvSpPr txBox="1"/>
          <p:nvPr/>
        </p:nvSpPr>
        <p:spPr>
          <a:xfrm>
            <a:off x="9299448" y="5696712"/>
            <a:ext cx="173736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2DD4BF"/>
                </a:solidFill>
              </a:rPr>
              <a:t>Cell Result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9299448" y="5961888"/>
            <a:ext cx="1737360" cy="53035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 dirty="0">
                <a:solidFill>
                  <a:srgbClr val="A0A0B8"/>
                </a:solidFill>
              </a:rPr>
              <a:t>Answer + citations
confidence +
full trace</a:t>
            </a:r>
          </a:p>
        </p:txBody>
      </p:sp>
      <p:sp>
        <p:nvSpPr>
          <p:cNvPr id="74" name="Rectangle 73"/>
          <p:cNvSpPr/>
          <p:nvPr/>
        </p:nvSpPr>
        <p:spPr>
          <a:xfrm>
            <a:off x="10625328" y="5641848"/>
            <a:ext cx="1097280" cy="905256"/>
          </a:xfrm>
          <a:prstGeom prst="rect">
            <a:avLst/>
          </a:prstGeom>
          <a:solidFill>
            <a:srgbClr val="060E1A"/>
          </a:solidFill>
          <a:ln w="9525">
            <a:solidFill>
              <a:srgbClr val="1A34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5" name="TextBox 74"/>
          <p:cNvSpPr txBox="1"/>
          <p:nvPr/>
        </p:nvSpPr>
        <p:spPr>
          <a:xfrm>
            <a:off x="10378440" y="5687568"/>
            <a:ext cx="1234440" cy="23774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1" i="0">
                <a:solidFill>
                  <a:srgbClr val="38BDF8"/>
                </a:solidFill>
              </a:rPr>
              <a:t>FastAPI + SSE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0378440" y="5961888"/>
            <a:ext cx="123444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50" b="0" i="0">
                <a:solidFill>
                  <a:srgbClr val="606078"/>
                </a:solidFill>
              </a:rPr>
              <a:t>Streams cell state
to React UI</a:t>
            </a:r>
          </a:p>
        </p:txBody>
      </p:sp>
      <p:cxnSp>
        <p:nvCxnSpPr>
          <p:cNvPr id="77" name="Connector 76"/>
          <p:cNvCxnSpPr/>
          <p:nvPr/>
        </p:nvCxnSpPr>
        <p:spPr>
          <a:xfrm flipH="1">
            <a:off x="10259568" y="6080759"/>
            <a:ext cx="877823" cy="0"/>
          </a:xfrm>
          <a:prstGeom prst="line">
            <a:avLst/>
          </a:prstGeom>
          <a:ln w="12700">
            <a:solidFill>
              <a:srgbClr val="103820"/>
            </a:solidFill>
            <a:headEnd type="triangle" w="sm" len="sm"/>
            <a:tailEnd type="non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571</Words>
  <Application>Microsoft Macintosh PowerPoint</Application>
  <PresentationFormat>Custom</PresentationFormat>
  <Paragraphs>108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Aptos</vt:lpstr>
      <vt:lpstr>Arial</vt:lpstr>
      <vt:lpstr>Calibri</vt:lpstr>
      <vt:lpstr>Office Theme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Anup Roy</cp:lastModifiedBy>
  <cp:revision>2</cp:revision>
  <dcterms:created xsi:type="dcterms:W3CDTF">2013-01-27T09:14:16Z</dcterms:created>
  <dcterms:modified xsi:type="dcterms:W3CDTF">2026-04-20T15:00:56Z</dcterms:modified>
  <cp:category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09ea7407-5844-49ec-aa4f-9b4135bf0609_Enabled">
    <vt:lpwstr>true</vt:lpwstr>
  </property>
  <property fmtid="{D5CDD505-2E9C-101B-9397-08002B2CF9AE}" pid="3" name="MSIP_Label_09ea7407-5844-49ec-aa4f-9b4135bf0609_SetDate">
    <vt:lpwstr>2026-04-20T14:57:17Z</vt:lpwstr>
  </property>
  <property fmtid="{D5CDD505-2E9C-101B-9397-08002B2CF9AE}" pid="4" name="MSIP_Label_09ea7407-5844-49ec-aa4f-9b4135bf0609_Method">
    <vt:lpwstr>Standard</vt:lpwstr>
  </property>
  <property fmtid="{D5CDD505-2E9C-101B-9397-08002B2CF9AE}" pid="5" name="MSIP_Label_09ea7407-5844-49ec-aa4f-9b4135bf0609_Name">
    <vt:lpwstr>Restricted-Core42</vt:lpwstr>
  </property>
  <property fmtid="{D5CDD505-2E9C-101B-9397-08002B2CF9AE}" pid="6" name="MSIP_Label_09ea7407-5844-49ec-aa4f-9b4135bf0609_SiteId">
    <vt:lpwstr>62974d97-13b6-40c9-8576-f1ab2905b6cf</vt:lpwstr>
  </property>
  <property fmtid="{D5CDD505-2E9C-101B-9397-08002B2CF9AE}" pid="7" name="MSIP_Label_09ea7407-5844-49ec-aa4f-9b4135bf0609_ActionId">
    <vt:lpwstr>a5687282-1bc9-4dc5-994c-291b32ee2692</vt:lpwstr>
  </property>
  <property fmtid="{D5CDD505-2E9C-101B-9397-08002B2CF9AE}" pid="8" name="MSIP_Label_09ea7407-5844-49ec-aa4f-9b4135bf0609_ContentBits">
    <vt:lpwstr>3</vt:lpwstr>
  </property>
  <property fmtid="{D5CDD505-2E9C-101B-9397-08002B2CF9AE}" pid="9" name="MSIP_Label_09ea7407-5844-49ec-aa4f-9b4135bf0609_Tag">
    <vt:lpwstr>50, 1, 2, 1</vt:lpwstr>
  </property>
  <property fmtid="{D5CDD505-2E9C-101B-9397-08002B2CF9AE}" pid="10" name="ClassificationContentMarkingFooterLocations">
    <vt:lpwstr>Office Theme:10</vt:lpwstr>
  </property>
  <property fmtid="{D5CDD505-2E9C-101B-9397-08002B2CF9AE}" pid="11" name="ClassificationContentMarkingFooterText">
    <vt:lpwstr>RESTRICTED </vt:lpwstr>
  </property>
  <property fmtid="{D5CDD505-2E9C-101B-9397-08002B2CF9AE}" pid="12" name="ClassificationContentMarkingHeaderLocations">
    <vt:lpwstr>Office Theme:9</vt:lpwstr>
  </property>
  <property fmtid="{D5CDD505-2E9C-101B-9397-08002B2CF9AE}" pid="13" name="ClassificationContentMarkingHeaderText">
    <vt:lpwstr> </vt:lpwstr>
  </property>
</Properties>
</file>